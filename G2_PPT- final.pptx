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70" r:id="rId13"/>
    <p:sldId id="271" r:id="rId14"/>
    <p:sldId id="268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2EE449-3A25-4B05-9151-2AF3363705F3}" v="1" dt="2026-04-10T17:06:21.1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89" autoAdjust="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2468CF-25D3-427B-B7A6-E40B87E404CF}" type="doc">
      <dgm:prSet loTypeId="urn:microsoft.com/office/officeart/2005/8/layout/default" loCatId="list" qsTypeId="urn:microsoft.com/office/officeart/2005/8/quickstyle/3d3" qsCatId="3D" csTypeId="urn:microsoft.com/office/officeart/2005/8/colors/accent2_1" csCatId="accent2" phldr="1"/>
      <dgm:spPr/>
      <dgm:t>
        <a:bodyPr/>
        <a:lstStyle/>
        <a:p>
          <a:endParaRPr lang="en-IN"/>
        </a:p>
      </dgm:t>
    </dgm:pt>
    <dgm:pt modelId="{51B5CDCF-74B1-4A8D-BC5D-4425BA94AB81}">
      <dgm:prSet phldrT="[Text]" phldr="0" custT="1"/>
      <dgm:spPr>
        <a:ln w="28575"/>
      </dgm:spPr>
      <dgm:t>
        <a:bodyPr/>
        <a:lstStyle/>
        <a:p>
          <a:r>
            <a:rPr lang="en-US" sz="2400" b="1" dirty="0"/>
            <a:t>User entre </a:t>
          </a:r>
          <a:r>
            <a:rPr lang="en-US" sz="2400" b="1" dirty="0" err="1"/>
            <a:t>symtomps</a:t>
          </a:r>
          <a:endParaRPr lang="en-US" sz="2400" b="1" dirty="0"/>
        </a:p>
        <a:p>
          <a:r>
            <a:rPr lang="en-US" sz="1800" dirty="0"/>
            <a:t>22 binary  features selected</a:t>
          </a:r>
        </a:p>
      </dgm:t>
    </dgm:pt>
    <dgm:pt modelId="{D1BAE285-CC80-4906-A4DB-01954D651A89}" type="parTrans" cxnId="{F67B6ADC-BB52-4F69-929B-6513B8970298}">
      <dgm:prSet/>
      <dgm:spPr/>
      <dgm:t>
        <a:bodyPr/>
        <a:lstStyle/>
        <a:p>
          <a:endParaRPr lang="en-IN"/>
        </a:p>
      </dgm:t>
    </dgm:pt>
    <dgm:pt modelId="{7C5B445F-77BA-4FD7-9FF0-A2A47B45FC34}" type="sibTrans" cxnId="{F67B6ADC-BB52-4F69-929B-6513B8970298}">
      <dgm:prSet/>
      <dgm:spPr/>
      <dgm:t>
        <a:bodyPr/>
        <a:lstStyle/>
        <a:p>
          <a:endParaRPr lang="en-IN"/>
        </a:p>
      </dgm:t>
    </dgm:pt>
    <dgm:pt modelId="{323FB384-CAFD-4A5B-A154-BAB6C4F279AE}">
      <dgm:prSet phldrT="[Text]" phldr="0" custT="1"/>
      <dgm:spPr>
        <a:ln w="28575"/>
      </dgm:spPr>
      <dgm:t>
        <a:bodyPr/>
        <a:lstStyle/>
        <a:p>
          <a:r>
            <a:rPr lang="en-US" sz="2400" b="1" dirty="0"/>
            <a:t>Random Forest </a:t>
          </a:r>
          <a:r>
            <a:rPr lang="en-US" sz="2400" b="1" dirty="0" err="1"/>
            <a:t>Predectio</a:t>
          </a:r>
          <a:endParaRPr lang="en-US" sz="2400" b="1" dirty="0"/>
        </a:p>
        <a:p>
          <a:r>
            <a:rPr lang="en-IN" sz="1800" dirty="0"/>
            <a:t>200 estimators, depth = 20</a:t>
          </a:r>
        </a:p>
      </dgm:t>
    </dgm:pt>
    <dgm:pt modelId="{88E05F16-1B9B-4024-A7D1-32969714D491}" type="parTrans" cxnId="{D70905F8-B270-47DD-835E-766617FC258F}">
      <dgm:prSet/>
      <dgm:spPr/>
      <dgm:t>
        <a:bodyPr/>
        <a:lstStyle/>
        <a:p>
          <a:endParaRPr lang="en-IN"/>
        </a:p>
      </dgm:t>
    </dgm:pt>
    <dgm:pt modelId="{16B5D723-FA8E-43EF-8FF2-2D4A80EEF566}" type="sibTrans" cxnId="{D70905F8-B270-47DD-835E-766617FC258F}">
      <dgm:prSet/>
      <dgm:spPr/>
      <dgm:t>
        <a:bodyPr/>
        <a:lstStyle/>
        <a:p>
          <a:endParaRPr lang="en-IN"/>
        </a:p>
      </dgm:t>
    </dgm:pt>
    <dgm:pt modelId="{4B2BC208-785C-499F-82FD-56924AE89186}">
      <dgm:prSet phldrT="[Text]" phldr="0" custT="1"/>
      <dgm:spPr>
        <a:ln w="28575"/>
      </dgm:spPr>
      <dgm:t>
        <a:bodyPr/>
        <a:lstStyle/>
        <a:p>
          <a:r>
            <a:rPr lang="en-US" sz="2400" b="1" dirty="0"/>
            <a:t>Confidence Score</a:t>
          </a:r>
        </a:p>
        <a:p>
          <a:r>
            <a:rPr lang="en-IN" sz="1800" dirty="0"/>
            <a:t>Probability estimation</a:t>
          </a:r>
        </a:p>
      </dgm:t>
    </dgm:pt>
    <dgm:pt modelId="{F029777C-6398-4588-B9FB-63ABAC8F2E72}" type="parTrans" cxnId="{A9B541D4-FEBB-4E67-A66A-4E7E8A7705EC}">
      <dgm:prSet/>
      <dgm:spPr/>
      <dgm:t>
        <a:bodyPr/>
        <a:lstStyle/>
        <a:p>
          <a:endParaRPr lang="en-IN"/>
        </a:p>
      </dgm:t>
    </dgm:pt>
    <dgm:pt modelId="{17E1C856-51AF-4157-96F4-63D209C4B524}" type="sibTrans" cxnId="{A9B541D4-FEBB-4E67-A66A-4E7E8A7705EC}">
      <dgm:prSet/>
      <dgm:spPr/>
      <dgm:t>
        <a:bodyPr/>
        <a:lstStyle/>
        <a:p>
          <a:endParaRPr lang="en-IN"/>
        </a:p>
      </dgm:t>
    </dgm:pt>
    <dgm:pt modelId="{EC8DA970-2DEA-4383-BEE4-32323C07E783}">
      <dgm:prSet phldrT="[Text]" phldr="0" custT="1"/>
      <dgm:spPr>
        <a:ln w="28575"/>
      </dgm:spPr>
      <dgm:t>
        <a:bodyPr/>
        <a:lstStyle/>
        <a:p>
          <a:r>
            <a:rPr lang="en-US" sz="2400" b="1" dirty="0"/>
            <a:t>Result displayed</a:t>
          </a:r>
        </a:p>
        <a:p>
          <a:r>
            <a:rPr lang="en-IN" sz="1800" dirty="0"/>
            <a:t>Disease + Treatment show</a:t>
          </a:r>
        </a:p>
      </dgm:t>
    </dgm:pt>
    <dgm:pt modelId="{22A76F93-B4B9-4F9F-AE7A-2577B6D91C00}" type="parTrans" cxnId="{9498483E-4488-4995-A682-B01EC6631EE7}">
      <dgm:prSet/>
      <dgm:spPr/>
      <dgm:t>
        <a:bodyPr/>
        <a:lstStyle/>
        <a:p>
          <a:endParaRPr lang="en-IN"/>
        </a:p>
      </dgm:t>
    </dgm:pt>
    <dgm:pt modelId="{D0C4EF86-8DB2-4B35-B70B-2FF6D8741C00}" type="sibTrans" cxnId="{9498483E-4488-4995-A682-B01EC6631EE7}">
      <dgm:prSet/>
      <dgm:spPr/>
      <dgm:t>
        <a:bodyPr/>
        <a:lstStyle/>
        <a:p>
          <a:endParaRPr lang="en-IN"/>
        </a:p>
      </dgm:t>
    </dgm:pt>
    <dgm:pt modelId="{7F38DAD2-B1D3-4478-A42C-31DBCC885C9C}">
      <dgm:prSet phldrT="[Text]" phldr="0" custT="1"/>
      <dgm:spPr>
        <a:ln w="28575"/>
      </dgm:spPr>
      <dgm:t>
        <a:bodyPr/>
        <a:lstStyle/>
        <a:p>
          <a:r>
            <a:rPr lang="en-US" sz="2400" b="1" dirty="0"/>
            <a:t>Optimal Image upload</a:t>
          </a:r>
        </a:p>
        <a:p>
          <a:r>
            <a:rPr lang="en-IN" sz="1800" dirty="0"/>
            <a:t>OpenCV preprocessing</a:t>
          </a:r>
        </a:p>
      </dgm:t>
    </dgm:pt>
    <dgm:pt modelId="{AFB55160-E003-4E32-B688-4A9821B9E65C}" type="parTrans" cxnId="{5EA0436F-3F7E-48A6-A808-F0F5672853F2}">
      <dgm:prSet/>
      <dgm:spPr/>
      <dgm:t>
        <a:bodyPr/>
        <a:lstStyle/>
        <a:p>
          <a:endParaRPr lang="en-IN"/>
        </a:p>
      </dgm:t>
    </dgm:pt>
    <dgm:pt modelId="{A2D8273E-2C94-49FD-B1D7-396D99E00AA9}" type="sibTrans" cxnId="{5EA0436F-3F7E-48A6-A808-F0F5672853F2}">
      <dgm:prSet/>
      <dgm:spPr/>
      <dgm:t>
        <a:bodyPr/>
        <a:lstStyle/>
        <a:p>
          <a:endParaRPr lang="en-IN"/>
        </a:p>
      </dgm:t>
    </dgm:pt>
    <dgm:pt modelId="{4B099F7D-6FB6-4F40-B620-C629F95B28A8}">
      <dgm:prSet phldrT="[Text]" phldr="0" custT="1"/>
      <dgm:spPr>
        <a:ln w="28575"/>
      </dgm:spPr>
      <dgm:t>
        <a:bodyPr/>
        <a:lstStyle/>
        <a:p>
          <a:r>
            <a:rPr lang="en-US" sz="2400" b="1" dirty="0"/>
            <a:t>Data Preprocessing</a:t>
          </a:r>
        </a:p>
        <a:p>
          <a:r>
            <a:rPr lang="en-IN" sz="1800" dirty="0"/>
            <a:t>Encoding + normalization</a:t>
          </a:r>
        </a:p>
      </dgm:t>
    </dgm:pt>
    <dgm:pt modelId="{59173117-55B1-46DF-A3AD-D433AB71A486}" type="parTrans" cxnId="{61EF9420-D944-4D8D-9DBD-56FDF777E26F}">
      <dgm:prSet/>
      <dgm:spPr/>
      <dgm:t>
        <a:bodyPr/>
        <a:lstStyle/>
        <a:p>
          <a:endParaRPr lang="en-IN"/>
        </a:p>
      </dgm:t>
    </dgm:pt>
    <dgm:pt modelId="{94ECD86A-BD51-4408-87B7-3972A6E06D22}" type="sibTrans" cxnId="{61EF9420-D944-4D8D-9DBD-56FDF777E26F}">
      <dgm:prSet/>
      <dgm:spPr/>
      <dgm:t>
        <a:bodyPr/>
        <a:lstStyle/>
        <a:p>
          <a:endParaRPr lang="en-IN"/>
        </a:p>
      </dgm:t>
    </dgm:pt>
    <dgm:pt modelId="{C8E7C06A-9FD0-47C1-9F69-DF75979D7DAA}" type="pres">
      <dgm:prSet presAssocID="{D02468CF-25D3-427B-B7A6-E40B87E404CF}" presName="diagram" presStyleCnt="0">
        <dgm:presLayoutVars>
          <dgm:dir/>
          <dgm:resizeHandles val="exact"/>
        </dgm:presLayoutVars>
      </dgm:prSet>
      <dgm:spPr/>
    </dgm:pt>
    <dgm:pt modelId="{59F93222-A2EF-4D96-BCF1-C4B90953652C}" type="pres">
      <dgm:prSet presAssocID="{51B5CDCF-74B1-4A8D-BC5D-4425BA94AB81}" presName="node" presStyleLbl="node1" presStyleIdx="0" presStyleCnt="6">
        <dgm:presLayoutVars>
          <dgm:bulletEnabled val="1"/>
        </dgm:presLayoutVars>
      </dgm:prSet>
      <dgm:spPr/>
    </dgm:pt>
    <dgm:pt modelId="{822CAC7F-94B8-4052-B23D-F1345BE08194}" type="pres">
      <dgm:prSet presAssocID="{7C5B445F-77BA-4FD7-9FF0-A2A47B45FC34}" presName="sibTrans" presStyleCnt="0"/>
      <dgm:spPr/>
    </dgm:pt>
    <dgm:pt modelId="{B140E67F-E9FD-4E4A-804D-C5BEC6B465C7}" type="pres">
      <dgm:prSet presAssocID="{7F38DAD2-B1D3-4478-A42C-31DBCC885C9C}" presName="node" presStyleLbl="node1" presStyleIdx="1" presStyleCnt="6">
        <dgm:presLayoutVars>
          <dgm:bulletEnabled val="1"/>
        </dgm:presLayoutVars>
      </dgm:prSet>
      <dgm:spPr/>
    </dgm:pt>
    <dgm:pt modelId="{40A43D5E-DC37-40C3-9F77-3FEC7EEB4936}" type="pres">
      <dgm:prSet presAssocID="{A2D8273E-2C94-49FD-B1D7-396D99E00AA9}" presName="sibTrans" presStyleCnt="0"/>
      <dgm:spPr/>
    </dgm:pt>
    <dgm:pt modelId="{5FA720C5-5C32-42E0-AEDB-24E8415BE1F0}" type="pres">
      <dgm:prSet presAssocID="{4B099F7D-6FB6-4F40-B620-C629F95B28A8}" presName="node" presStyleLbl="node1" presStyleIdx="2" presStyleCnt="6" custAng="0">
        <dgm:presLayoutVars>
          <dgm:bulletEnabled val="1"/>
        </dgm:presLayoutVars>
      </dgm:prSet>
      <dgm:spPr/>
    </dgm:pt>
    <dgm:pt modelId="{A25CB7E1-F1A5-4D4F-9A0B-DEE1869064E1}" type="pres">
      <dgm:prSet presAssocID="{94ECD86A-BD51-4408-87B7-3972A6E06D22}" presName="sibTrans" presStyleCnt="0"/>
      <dgm:spPr/>
    </dgm:pt>
    <dgm:pt modelId="{CD91A7D9-E859-4374-95D8-B9F478A0A26E}" type="pres">
      <dgm:prSet presAssocID="{323FB384-CAFD-4A5B-A154-BAB6C4F279AE}" presName="node" presStyleLbl="node1" presStyleIdx="3" presStyleCnt="6">
        <dgm:presLayoutVars>
          <dgm:bulletEnabled val="1"/>
        </dgm:presLayoutVars>
      </dgm:prSet>
      <dgm:spPr/>
    </dgm:pt>
    <dgm:pt modelId="{C809AE27-169B-4054-ABF8-C9B79E6B7273}" type="pres">
      <dgm:prSet presAssocID="{16B5D723-FA8E-43EF-8FF2-2D4A80EEF566}" presName="sibTrans" presStyleCnt="0"/>
      <dgm:spPr/>
    </dgm:pt>
    <dgm:pt modelId="{840584AA-7934-49C8-A439-1B3D1346631A}" type="pres">
      <dgm:prSet presAssocID="{4B2BC208-785C-499F-82FD-56924AE89186}" presName="node" presStyleLbl="node1" presStyleIdx="4" presStyleCnt="6">
        <dgm:presLayoutVars>
          <dgm:bulletEnabled val="1"/>
        </dgm:presLayoutVars>
      </dgm:prSet>
      <dgm:spPr/>
    </dgm:pt>
    <dgm:pt modelId="{1C754AB8-B564-4766-AE07-9A5DFD9AA61A}" type="pres">
      <dgm:prSet presAssocID="{17E1C856-51AF-4157-96F4-63D209C4B524}" presName="sibTrans" presStyleCnt="0"/>
      <dgm:spPr/>
    </dgm:pt>
    <dgm:pt modelId="{04AABF4A-DC4D-4CC4-830E-BC5805BA0F60}" type="pres">
      <dgm:prSet presAssocID="{EC8DA970-2DEA-4383-BEE4-32323C07E783}" presName="node" presStyleLbl="node1" presStyleIdx="5" presStyleCnt="6">
        <dgm:presLayoutVars>
          <dgm:bulletEnabled val="1"/>
        </dgm:presLayoutVars>
      </dgm:prSet>
      <dgm:spPr/>
    </dgm:pt>
  </dgm:ptLst>
  <dgm:cxnLst>
    <dgm:cxn modelId="{3D0F810F-3FAC-4E21-B27C-F8AB375CEDB2}" type="presOf" srcId="{4B2BC208-785C-499F-82FD-56924AE89186}" destId="{840584AA-7934-49C8-A439-1B3D1346631A}" srcOrd="0" destOrd="0" presId="urn:microsoft.com/office/officeart/2005/8/layout/default"/>
    <dgm:cxn modelId="{61EF9420-D944-4D8D-9DBD-56FDF777E26F}" srcId="{D02468CF-25D3-427B-B7A6-E40B87E404CF}" destId="{4B099F7D-6FB6-4F40-B620-C629F95B28A8}" srcOrd="2" destOrd="0" parTransId="{59173117-55B1-46DF-A3AD-D433AB71A486}" sibTransId="{94ECD86A-BD51-4408-87B7-3972A6E06D22}"/>
    <dgm:cxn modelId="{9498483E-4488-4995-A682-B01EC6631EE7}" srcId="{D02468CF-25D3-427B-B7A6-E40B87E404CF}" destId="{EC8DA970-2DEA-4383-BEE4-32323C07E783}" srcOrd="5" destOrd="0" parTransId="{22A76F93-B4B9-4F9F-AE7A-2577B6D91C00}" sibTransId="{D0C4EF86-8DB2-4B35-B70B-2FF6D8741C00}"/>
    <dgm:cxn modelId="{5EA0436F-3F7E-48A6-A808-F0F5672853F2}" srcId="{D02468CF-25D3-427B-B7A6-E40B87E404CF}" destId="{7F38DAD2-B1D3-4478-A42C-31DBCC885C9C}" srcOrd="1" destOrd="0" parTransId="{AFB55160-E003-4E32-B688-4A9821B9E65C}" sibTransId="{A2D8273E-2C94-49FD-B1D7-396D99E00AA9}"/>
    <dgm:cxn modelId="{5642008A-41BA-4697-AF99-4B685D535B44}" type="presOf" srcId="{EC8DA970-2DEA-4383-BEE4-32323C07E783}" destId="{04AABF4A-DC4D-4CC4-830E-BC5805BA0F60}" srcOrd="0" destOrd="0" presId="urn:microsoft.com/office/officeart/2005/8/layout/default"/>
    <dgm:cxn modelId="{7A8CAE8F-468B-4889-8952-51EEBA8DFBB7}" type="presOf" srcId="{323FB384-CAFD-4A5B-A154-BAB6C4F279AE}" destId="{CD91A7D9-E859-4374-95D8-B9F478A0A26E}" srcOrd="0" destOrd="0" presId="urn:microsoft.com/office/officeart/2005/8/layout/default"/>
    <dgm:cxn modelId="{E4A3A996-C863-4DD3-988A-D2C9AB156DD7}" type="presOf" srcId="{7F38DAD2-B1D3-4478-A42C-31DBCC885C9C}" destId="{B140E67F-E9FD-4E4A-804D-C5BEC6B465C7}" srcOrd="0" destOrd="0" presId="urn:microsoft.com/office/officeart/2005/8/layout/default"/>
    <dgm:cxn modelId="{E1257298-827E-4202-AF22-6F467F3F5805}" type="presOf" srcId="{D02468CF-25D3-427B-B7A6-E40B87E404CF}" destId="{C8E7C06A-9FD0-47C1-9F69-DF75979D7DAA}" srcOrd="0" destOrd="0" presId="urn:microsoft.com/office/officeart/2005/8/layout/default"/>
    <dgm:cxn modelId="{F1E7149A-6253-4B97-BB89-639236C0712F}" type="presOf" srcId="{51B5CDCF-74B1-4A8D-BC5D-4425BA94AB81}" destId="{59F93222-A2EF-4D96-BCF1-C4B90953652C}" srcOrd="0" destOrd="0" presId="urn:microsoft.com/office/officeart/2005/8/layout/default"/>
    <dgm:cxn modelId="{1DE195A4-174A-4E5B-BFC2-C3F60BFE7AB7}" type="presOf" srcId="{4B099F7D-6FB6-4F40-B620-C629F95B28A8}" destId="{5FA720C5-5C32-42E0-AEDB-24E8415BE1F0}" srcOrd="0" destOrd="0" presId="urn:microsoft.com/office/officeart/2005/8/layout/default"/>
    <dgm:cxn modelId="{A9B541D4-FEBB-4E67-A66A-4E7E8A7705EC}" srcId="{D02468CF-25D3-427B-B7A6-E40B87E404CF}" destId="{4B2BC208-785C-499F-82FD-56924AE89186}" srcOrd="4" destOrd="0" parTransId="{F029777C-6398-4588-B9FB-63ABAC8F2E72}" sibTransId="{17E1C856-51AF-4157-96F4-63D209C4B524}"/>
    <dgm:cxn modelId="{F67B6ADC-BB52-4F69-929B-6513B8970298}" srcId="{D02468CF-25D3-427B-B7A6-E40B87E404CF}" destId="{51B5CDCF-74B1-4A8D-BC5D-4425BA94AB81}" srcOrd="0" destOrd="0" parTransId="{D1BAE285-CC80-4906-A4DB-01954D651A89}" sibTransId="{7C5B445F-77BA-4FD7-9FF0-A2A47B45FC34}"/>
    <dgm:cxn modelId="{D70905F8-B270-47DD-835E-766617FC258F}" srcId="{D02468CF-25D3-427B-B7A6-E40B87E404CF}" destId="{323FB384-CAFD-4A5B-A154-BAB6C4F279AE}" srcOrd="3" destOrd="0" parTransId="{88E05F16-1B9B-4024-A7D1-32969714D491}" sibTransId="{16B5D723-FA8E-43EF-8FF2-2D4A80EEF566}"/>
    <dgm:cxn modelId="{AF14743A-3142-4AEE-A937-C625A8D29B88}" type="presParOf" srcId="{C8E7C06A-9FD0-47C1-9F69-DF75979D7DAA}" destId="{59F93222-A2EF-4D96-BCF1-C4B90953652C}" srcOrd="0" destOrd="0" presId="urn:microsoft.com/office/officeart/2005/8/layout/default"/>
    <dgm:cxn modelId="{933889F5-0ED7-4775-AC78-AEE90D593E17}" type="presParOf" srcId="{C8E7C06A-9FD0-47C1-9F69-DF75979D7DAA}" destId="{822CAC7F-94B8-4052-B23D-F1345BE08194}" srcOrd="1" destOrd="0" presId="urn:microsoft.com/office/officeart/2005/8/layout/default"/>
    <dgm:cxn modelId="{71D6B375-1518-4E16-9575-8C5683C6D6B6}" type="presParOf" srcId="{C8E7C06A-9FD0-47C1-9F69-DF75979D7DAA}" destId="{B140E67F-E9FD-4E4A-804D-C5BEC6B465C7}" srcOrd="2" destOrd="0" presId="urn:microsoft.com/office/officeart/2005/8/layout/default"/>
    <dgm:cxn modelId="{1CE0EAAB-8ED1-4629-99AB-E73FB67F90FE}" type="presParOf" srcId="{C8E7C06A-9FD0-47C1-9F69-DF75979D7DAA}" destId="{40A43D5E-DC37-40C3-9F77-3FEC7EEB4936}" srcOrd="3" destOrd="0" presId="urn:microsoft.com/office/officeart/2005/8/layout/default"/>
    <dgm:cxn modelId="{0F943368-2F7B-4779-97C4-AE9E9698BB7D}" type="presParOf" srcId="{C8E7C06A-9FD0-47C1-9F69-DF75979D7DAA}" destId="{5FA720C5-5C32-42E0-AEDB-24E8415BE1F0}" srcOrd="4" destOrd="0" presId="urn:microsoft.com/office/officeart/2005/8/layout/default"/>
    <dgm:cxn modelId="{9FAD9D95-3AFE-4865-B3B2-5E93E5BFBC7D}" type="presParOf" srcId="{C8E7C06A-9FD0-47C1-9F69-DF75979D7DAA}" destId="{A25CB7E1-F1A5-4D4F-9A0B-DEE1869064E1}" srcOrd="5" destOrd="0" presId="urn:microsoft.com/office/officeart/2005/8/layout/default"/>
    <dgm:cxn modelId="{1485E29C-6048-430B-A1D1-EB8851740366}" type="presParOf" srcId="{C8E7C06A-9FD0-47C1-9F69-DF75979D7DAA}" destId="{CD91A7D9-E859-4374-95D8-B9F478A0A26E}" srcOrd="6" destOrd="0" presId="urn:microsoft.com/office/officeart/2005/8/layout/default"/>
    <dgm:cxn modelId="{A13F559A-0A2A-4A91-87D3-597E89A742C3}" type="presParOf" srcId="{C8E7C06A-9FD0-47C1-9F69-DF75979D7DAA}" destId="{C809AE27-169B-4054-ABF8-C9B79E6B7273}" srcOrd="7" destOrd="0" presId="urn:microsoft.com/office/officeart/2005/8/layout/default"/>
    <dgm:cxn modelId="{AB2CF399-598B-495F-BD40-C154A318BDCC}" type="presParOf" srcId="{C8E7C06A-9FD0-47C1-9F69-DF75979D7DAA}" destId="{840584AA-7934-49C8-A439-1B3D1346631A}" srcOrd="8" destOrd="0" presId="urn:microsoft.com/office/officeart/2005/8/layout/default"/>
    <dgm:cxn modelId="{B088F1F8-A90D-4A57-9481-1C73FEEFE15B}" type="presParOf" srcId="{C8E7C06A-9FD0-47C1-9F69-DF75979D7DAA}" destId="{1C754AB8-B564-4766-AE07-9A5DFD9AA61A}" srcOrd="9" destOrd="0" presId="urn:microsoft.com/office/officeart/2005/8/layout/default"/>
    <dgm:cxn modelId="{3A2D2E4C-2A52-44EA-A47C-C33260B8FFCA}" type="presParOf" srcId="{C8E7C06A-9FD0-47C1-9F69-DF75979D7DAA}" destId="{04AABF4A-DC4D-4CC4-830E-BC5805BA0F60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F93222-A2EF-4D96-BCF1-C4B90953652C}">
      <dsp:nvSpPr>
        <dsp:cNvPr id="0" name=""/>
        <dsp:cNvSpPr/>
      </dsp:nvSpPr>
      <dsp:spPr>
        <a:xfrm>
          <a:off x="0" y="591579"/>
          <a:ext cx="2912442" cy="174746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8575"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User entre </a:t>
          </a:r>
          <a:r>
            <a:rPr lang="en-US" sz="2400" b="1" kern="1200" dirty="0" err="1"/>
            <a:t>symtomps</a:t>
          </a:r>
          <a:endParaRPr lang="en-US" sz="2400" b="1" kern="1200" dirty="0"/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22 binary  features selected</a:t>
          </a:r>
        </a:p>
      </dsp:txBody>
      <dsp:txXfrm>
        <a:off x="0" y="591579"/>
        <a:ext cx="2912442" cy="1747465"/>
      </dsp:txXfrm>
    </dsp:sp>
    <dsp:sp modelId="{B140E67F-E9FD-4E4A-804D-C5BEC6B465C7}">
      <dsp:nvSpPr>
        <dsp:cNvPr id="0" name=""/>
        <dsp:cNvSpPr/>
      </dsp:nvSpPr>
      <dsp:spPr>
        <a:xfrm>
          <a:off x="3203687" y="591579"/>
          <a:ext cx="2912442" cy="174746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8575"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Optimal Image upload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OpenCV preprocessing</a:t>
          </a:r>
        </a:p>
      </dsp:txBody>
      <dsp:txXfrm>
        <a:off x="3203687" y="591579"/>
        <a:ext cx="2912442" cy="1747465"/>
      </dsp:txXfrm>
    </dsp:sp>
    <dsp:sp modelId="{5FA720C5-5C32-42E0-AEDB-24E8415BE1F0}">
      <dsp:nvSpPr>
        <dsp:cNvPr id="0" name=""/>
        <dsp:cNvSpPr/>
      </dsp:nvSpPr>
      <dsp:spPr>
        <a:xfrm>
          <a:off x="6407374" y="591579"/>
          <a:ext cx="2912442" cy="174746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8575"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Data Preprocessing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Encoding + normalization</a:t>
          </a:r>
        </a:p>
      </dsp:txBody>
      <dsp:txXfrm>
        <a:off x="6407374" y="591579"/>
        <a:ext cx="2912442" cy="1747465"/>
      </dsp:txXfrm>
    </dsp:sp>
    <dsp:sp modelId="{CD91A7D9-E859-4374-95D8-B9F478A0A26E}">
      <dsp:nvSpPr>
        <dsp:cNvPr id="0" name=""/>
        <dsp:cNvSpPr/>
      </dsp:nvSpPr>
      <dsp:spPr>
        <a:xfrm>
          <a:off x="0" y="2630289"/>
          <a:ext cx="2912442" cy="174746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8575"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Random Forest </a:t>
          </a:r>
          <a:r>
            <a:rPr lang="en-US" sz="2400" b="1" kern="1200" dirty="0" err="1"/>
            <a:t>Predectio</a:t>
          </a:r>
          <a:endParaRPr lang="en-US" sz="2400" b="1" kern="1200" dirty="0"/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200 estimators, depth = 20</a:t>
          </a:r>
        </a:p>
      </dsp:txBody>
      <dsp:txXfrm>
        <a:off x="0" y="2630289"/>
        <a:ext cx="2912442" cy="1747465"/>
      </dsp:txXfrm>
    </dsp:sp>
    <dsp:sp modelId="{840584AA-7934-49C8-A439-1B3D1346631A}">
      <dsp:nvSpPr>
        <dsp:cNvPr id="0" name=""/>
        <dsp:cNvSpPr/>
      </dsp:nvSpPr>
      <dsp:spPr>
        <a:xfrm>
          <a:off x="3203687" y="2630289"/>
          <a:ext cx="2912442" cy="174746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8575"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Confidence Score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Probability estimation</a:t>
          </a:r>
        </a:p>
      </dsp:txBody>
      <dsp:txXfrm>
        <a:off x="3203687" y="2630289"/>
        <a:ext cx="2912442" cy="1747465"/>
      </dsp:txXfrm>
    </dsp:sp>
    <dsp:sp modelId="{04AABF4A-DC4D-4CC4-830E-BC5805BA0F60}">
      <dsp:nvSpPr>
        <dsp:cNvPr id="0" name=""/>
        <dsp:cNvSpPr/>
      </dsp:nvSpPr>
      <dsp:spPr>
        <a:xfrm>
          <a:off x="6407374" y="2630289"/>
          <a:ext cx="2912442" cy="174746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8575"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Result displayed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Disease + Treatment show</a:t>
          </a:r>
        </a:p>
      </dsp:txBody>
      <dsp:txXfrm>
        <a:off x="6407374" y="2630289"/>
        <a:ext cx="2912442" cy="17474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CFAE5-ADF6-4A84-8EA5-0D21F6BA36C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35D675-1F46-4B87-A5F8-67DB0C31E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622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35D675-1F46-4B87-A5F8-67DB0C31E21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147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35D675-1F46-4B87-A5F8-67DB0C31E21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546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CE75-2696-426B-A7C6-7629D8CF2437}" type="datetime1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972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>
            <a:normAutofit/>
          </a:bodyPr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8F0E0-2234-4197-A558-6EA21AC7A0A0}" type="datetime1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 userDrawn="1"/>
        </p:nvSpPr>
        <p:spPr bwMode="auto">
          <a:xfrm rot="10800000" flipV="1">
            <a:off x="10587856" y="6247184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22029" y="6338155"/>
            <a:ext cx="779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75ECA5-96F4-415B-9B7B-F5BEE4B08E0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4E0AF9-0CD7-865F-F584-E7F93A8852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10" y="0"/>
            <a:ext cx="1457325" cy="12430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42BC9D-E099-1948-3435-FFC2468E3B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3395" y="-394223"/>
            <a:ext cx="1017037" cy="180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865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3316-F1D2-4CFB-B3A8-36FF84D60DC1}" type="datetime1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41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DD2DD-462B-4CBA-AA0A-8301F8EE9842}" type="datetime1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02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F0FB0-DEC5-44F8-B224-7DEA76B58BCE}" type="datetime1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132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51C4-12AA-486A-8A73-FD7CDFC9A495}" type="datetime1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892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A1EF-1C77-4320-9664-16BFC03E4F4D}" type="datetime1">
              <a:rPr lang="en-IN" smtClean="0"/>
              <a:t>16-06-2026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484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BE58-E9FD-47D2-91AC-7CE0251A25B2}" type="datetime1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767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71803-78DB-4882-8A70-E311DA0EF9FC}" type="datetime1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96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228FF-BE53-47F7-B430-409A097CA437}" type="datetime1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75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65DF8-C87B-4AA2-B81E-F9B41C3DE973}" type="datetime1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4965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1343-E99C-4C22-AAE8-C343A811CECF}" type="datetime1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2787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DC9B-DBC7-4258-BEB9-733492353AF9}" type="datetime1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15122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C6488-E703-4AFF-AB60-B11F0E50C7BC}" type="datetime1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11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63479-18BA-4E37-9716-A08D210E9EC7}" type="datetime1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2542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7E75-1528-41FC-88CA-CFEB217670A5}" type="datetime1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554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58841-AB6D-42AC-A9E1-E0D97A1068DD}" type="datetime1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605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94E13-AF13-FE84-B59A-88C7FF0DD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0029" y="2173224"/>
            <a:ext cx="8915399" cy="2511551"/>
          </a:xfrm>
        </p:spPr>
        <p:txBody>
          <a:bodyPr>
            <a:normAutofit fontScale="90000"/>
          </a:bodyPr>
          <a:lstStyle/>
          <a:p>
            <a:pPr algn="ctr"/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Plant Disease Prediction 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Symptoms Analysis</a:t>
            </a:r>
            <a:br>
              <a:rPr lang="en-GB" dirty="0"/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B09E56-A5E9-0BDC-98BD-DDD921DCD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5453" y="3223224"/>
            <a:ext cx="9079464" cy="3555264"/>
          </a:xfrm>
        </p:spPr>
        <p:txBody>
          <a:bodyPr>
            <a:normAutofit/>
          </a:bodyPr>
          <a:lstStyle/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Mahendra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K. Verma 						                 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Mo. Furqan Qureshi(0827IT231086)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Sudarshan Rajput    (0827IT231136) 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	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Yogesh Mali            (0827IT231152) 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Zoya Qureshi         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(0827IT231156) 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			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BC312B-2F58-B7DE-00D2-0142F8801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7059" y="-354166"/>
            <a:ext cx="1175716" cy="2090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5F9EF6-DBB5-9291-78C0-1BD5FCF2CF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75" y="0"/>
            <a:ext cx="1620078" cy="138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27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98BD3-82F3-F887-7675-7696E56FA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475750"/>
            <a:ext cx="8911687" cy="1280890"/>
          </a:xfrm>
        </p:spPr>
        <p:txBody>
          <a:bodyPr/>
          <a:lstStyle/>
          <a:p>
            <a:r>
              <a:rPr lang="en-IN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DD591-8615-A08A-67F8-943007048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152939"/>
            <a:ext cx="8915400" cy="5185216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Introduction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1.1</a:t>
            </a:r>
            <a:r>
              <a:rPr lang="en-IN" dirty="0"/>
              <a:t> Problem Statement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Literature Review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Proposed Solution</a:t>
            </a:r>
          </a:p>
          <a:p>
            <a:pPr marL="40005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3.1</a:t>
            </a:r>
            <a:r>
              <a:rPr lang="en-IN" dirty="0"/>
              <a:t> Objectives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System Architecture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Methodology &amp; Workflow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Theoretical Stack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5.1</a:t>
            </a:r>
            <a:r>
              <a:rPr lang="en-IN" dirty="0"/>
              <a:t> System Screenshots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Result and Performance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Conclusion &amp; Future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21891-9C7A-E4D4-07BD-AF0CB8124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8645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6708" y="450756"/>
            <a:ext cx="8911687" cy="826182"/>
          </a:xfrm>
        </p:spPr>
        <p:txBody>
          <a:bodyPr/>
          <a:lstStyle/>
          <a:p>
            <a:r>
              <a:rPr lang="en-IN" dirty="0"/>
              <a:t>1.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6708" y="1191942"/>
            <a:ext cx="4152185" cy="5511338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The Problem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diseases cause 20–40% of global crop losses annually (FAO)</a:t>
            </a: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farmers lack timely access to agricultural experts</a:t>
            </a: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AI tools depend on high-quality images and internet</a:t>
            </a: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accessible symptom-based prediction system exists for farmers</a:t>
            </a:r>
            <a:endParaRPr lang="en-US" dirty="0"/>
          </a:p>
          <a:p>
            <a:pPr marL="0" indent="0" algn="just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3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2EBC0E-E480-6224-9A60-30FD9DC758A6}"/>
              </a:ext>
            </a:extLst>
          </p:cNvPr>
          <p:cNvSpPr txBox="1"/>
          <p:nvPr/>
        </p:nvSpPr>
        <p:spPr>
          <a:xfrm>
            <a:off x="3048000" y="30478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F6D9C7-DC7A-0741-B113-53C067CF87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893" y="1276937"/>
            <a:ext cx="5410794" cy="470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755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1786" y="467657"/>
            <a:ext cx="8911687" cy="1280890"/>
          </a:xfrm>
        </p:spPr>
        <p:txBody>
          <a:bodyPr/>
          <a:lstStyle/>
          <a:p>
            <a:r>
              <a:rPr lang="en-IN" dirty="0"/>
              <a:t>2. Literature Review</a:t>
            </a:r>
          </a:p>
        </p:txBody>
      </p:sp>
      <p:graphicFrame>
        <p:nvGraphicFramePr>
          <p:cNvPr id="58" name="Content Placeholder 57">
            <a:extLst>
              <a:ext uri="{FF2B5EF4-FFF2-40B4-BE49-F238E27FC236}">
                <a16:creationId xmlns:a16="http://schemas.microsoft.com/office/drawing/2014/main" id="{3BAF9A55-C9D4-691F-B262-35BCA1F34C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8306435"/>
              </p:ext>
            </p:extLst>
          </p:nvPr>
        </p:nvGraphicFramePr>
        <p:xfrm>
          <a:off x="1716505" y="1379621"/>
          <a:ext cx="9788105" cy="473420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3831308721"/>
                    </a:ext>
                  </a:extLst>
                </a:gridCol>
                <a:gridCol w="1556084">
                  <a:extLst>
                    <a:ext uri="{9D8B030D-6E8A-4147-A177-3AD203B41FA5}">
                      <a16:colId xmlns:a16="http://schemas.microsoft.com/office/drawing/2014/main" val="3810111225"/>
                    </a:ext>
                  </a:extLst>
                </a:gridCol>
                <a:gridCol w="2374232">
                  <a:extLst>
                    <a:ext uri="{9D8B030D-6E8A-4147-A177-3AD203B41FA5}">
                      <a16:colId xmlns:a16="http://schemas.microsoft.com/office/drawing/2014/main" val="1434172143"/>
                    </a:ext>
                  </a:extLst>
                </a:gridCol>
                <a:gridCol w="1874891">
                  <a:extLst>
                    <a:ext uri="{9D8B030D-6E8A-4147-A177-3AD203B41FA5}">
                      <a16:colId xmlns:a16="http://schemas.microsoft.com/office/drawing/2014/main" val="3335744165"/>
                    </a:ext>
                  </a:extLst>
                </a:gridCol>
                <a:gridCol w="3068498">
                  <a:extLst>
                    <a:ext uri="{9D8B030D-6E8A-4147-A177-3AD203B41FA5}">
                      <a16:colId xmlns:a16="http://schemas.microsoft.com/office/drawing/2014/main" val="3108361698"/>
                    </a:ext>
                  </a:extLst>
                </a:gridCol>
              </a:tblGrid>
              <a:tr h="6737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  <a:endParaRPr lang="en-IN" dirty="0"/>
                    </a:p>
                  </a:txBody>
                  <a:tcPr marT="10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Author(s)</a:t>
                      </a:r>
                      <a:endParaRPr lang="en-IN" dirty="0"/>
                    </a:p>
                  </a:txBody>
                  <a:tcPr marT="10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Method</a:t>
                      </a:r>
                      <a:endParaRPr lang="en-IN" dirty="0"/>
                    </a:p>
                  </a:txBody>
                  <a:tcPr marT="10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REsult</a:t>
                      </a:r>
                      <a:endParaRPr lang="en-IN" dirty="0"/>
                    </a:p>
                  </a:txBody>
                  <a:tcPr marT="10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Limitation</a:t>
                      </a:r>
                      <a:endParaRPr lang="en-IN" dirty="0"/>
                    </a:p>
                  </a:txBody>
                  <a:tcPr marT="108000"/>
                </a:tc>
                <a:extLst>
                  <a:ext uri="{0D108BD9-81ED-4DB2-BD59-A6C34878D82A}">
                    <a16:rowId xmlns:a16="http://schemas.microsoft.com/office/drawing/2014/main" val="3971172426"/>
                  </a:ext>
                </a:extLst>
              </a:tr>
              <a:tr h="6737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2016</a:t>
                      </a:r>
                      <a:endParaRPr lang="en-IN" dirty="0"/>
                    </a:p>
                  </a:txBody>
                  <a:tcPr marT="108000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Mohanty et al.</a:t>
                      </a:r>
                      <a:endParaRPr lang="en-US" sz="1800" dirty="0"/>
                    </a:p>
                    <a:p>
                      <a:pPr algn="ctr"/>
                      <a:endParaRPr lang="en-IN" dirty="0"/>
                    </a:p>
                  </a:txBody>
                  <a:tcPr marT="108000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(</a:t>
                      </a:r>
                      <a:r>
                        <a:rPr lang="en-US" sz="18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PlantVillage</a:t>
                      </a: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800" dirty="0"/>
                    </a:p>
                    <a:p>
                      <a:pPr algn="ctr"/>
                      <a:endParaRPr lang="en-IN" dirty="0"/>
                    </a:p>
                  </a:txBody>
                  <a:tcPr marT="108000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99.35% accuracy</a:t>
                      </a:r>
                      <a:endParaRPr lang="en-US" sz="1800" dirty="0"/>
                    </a:p>
                    <a:p>
                      <a:pPr algn="ctr"/>
                      <a:endParaRPr lang="en-IN" dirty="0"/>
                    </a:p>
                  </a:txBody>
                  <a:tcPr marT="108000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real-world generalization</a:t>
                      </a:r>
                      <a:endParaRPr lang="en-US" sz="1800" dirty="0"/>
                    </a:p>
                    <a:p>
                      <a:pPr algn="ctr"/>
                      <a:endParaRPr lang="en-IN" dirty="0"/>
                    </a:p>
                  </a:txBody>
                  <a:tcPr marT="108000"/>
                </a:tc>
                <a:extLst>
                  <a:ext uri="{0D108BD9-81ED-4DB2-BD59-A6C34878D82A}">
                    <a16:rowId xmlns:a16="http://schemas.microsoft.com/office/drawing/2014/main" val="2856591163"/>
                  </a:ext>
                </a:extLst>
              </a:tr>
              <a:tr h="6737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2018</a:t>
                      </a:r>
                      <a:endParaRPr lang="en-IN" dirty="0"/>
                    </a:p>
                  </a:txBody>
                  <a:tcPr marT="108000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Liakos et al.</a:t>
                      </a:r>
                      <a:endParaRPr lang="en-US" sz="1800" dirty="0"/>
                    </a:p>
                    <a:p>
                      <a:pPr algn="ctr"/>
                      <a:endParaRPr lang="en-IN" dirty="0"/>
                    </a:p>
                  </a:txBody>
                  <a:tcPr marT="108000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Review (RF, SVM)</a:t>
                      </a:r>
                      <a:endParaRPr lang="en-US" sz="1800" dirty="0"/>
                    </a:p>
                    <a:p>
                      <a:pPr algn="ctr"/>
                      <a:endParaRPr lang="en-IN" dirty="0"/>
                    </a:p>
                  </a:txBody>
                  <a:tcPr marT="108000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 classical ML</a:t>
                      </a:r>
                      <a:endParaRPr lang="en-US" sz="1800" dirty="0"/>
                    </a:p>
                    <a:p>
                      <a:pPr algn="ctr"/>
                      <a:endParaRPr lang="en-IN" dirty="0"/>
                    </a:p>
                  </a:txBody>
                  <a:tcPr marT="108000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specific prediction model</a:t>
                      </a:r>
                      <a:endParaRPr lang="en-US" sz="1800" dirty="0"/>
                    </a:p>
                    <a:p>
                      <a:pPr algn="ctr"/>
                      <a:endParaRPr lang="en-IN" dirty="0"/>
                    </a:p>
                  </a:txBody>
                  <a:tcPr marT="108000"/>
                </a:tc>
                <a:extLst>
                  <a:ext uri="{0D108BD9-81ED-4DB2-BD59-A6C34878D82A}">
                    <a16:rowId xmlns:a16="http://schemas.microsoft.com/office/drawing/2014/main" val="3097321262"/>
                  </a:ext>
                </a:extLst>
              </a:tr>
              <a:tr h="6737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2019</a:t>
                      </a:r>
                      <a:endParaRPr lang="en-IN" dirty="0"/>
                    </a:p>
                  </a:txBody>
                  <a:tcPr marT="108000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et al.</a:t>
                      </a:r>
                      <a:endParaRPr lang="en-US" sz="1800" dirty="0"/>
                    </a:p>
                    <a:p>
                      <a:pPr algn="ctr"/>
                      <a:endParaRPr lang="en-IN" dirty="0"/>
                    </a:p>
                  </a:txBody>
                  <a:tcPr marT="108000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Learning</a:t>
                      </a:r>
                      <a:endParaRPr lang="en-US" sz="1800" dirty="0"/>
                    </a:p>
                    <a:p>
                      <a:pPr algn="ctr"/>
                      <a:endParaRPr lang="en-IN" dirty="0"/>
                    </a:p>
                  </a:txBody>
                  <a:tcPr marT="108000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95%+ accuracy</a:t>
                      </a:r>
                      <a:endParaRPr lang="en-US" sz="1800" dirty="0"/>
                    </a:p>
                    <a:p>
                      <a:pPr algn="ctr"/>
                      <a:endParaRPr lang="en-IN" dirty="0"/>
                    </a:p>
                  </a:txBody>
                  <a:tcPr marT="108000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quality dependency</a:t>
                      </a:r>
                      <a:endParaRPr lang="en-US" sz="1800" dirty="0"/>
                    </a:p>
                    <a:p>
                      <a:pPr algn="ctr"/>
                      <a:endParaRPr lang="en-IN" dirty="0"/>
                    </a:p>
                  </a:txBody>
                  <a:tcPr marT="108000"/>
                </a:tc>
                <a:extLst>
                  <a:ext uri="{0D108BD9-81ED-4DB2-BD59-A6C34878D82A}">
                    <a16:rowId xmlns:a16="http://schemas.microsoft.com/office/drawing/2014/main" val="3396936561"/>
                  </a:ext>
                </a:extLst>
              </a:tr>
              <a:tr h="6737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2021</a:t>
                      </a:r>
                      <a:endParaRPr lang="en-IN" dirty="0"/>
                    </a:p>
                  </a:txBody>
                  <a:tcPr marT="108000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Sharma et al.</a:t>
                      </a:r>
                      <a:endParaRPr lang="en-US" sz="1800" dirty="0"/>
                    </a:p>
                    <a:p>
                      <a:pPr algn="ctr"/>
                      <a:endParaRPr lang="en-IN" dirty="0"/>
                    </a:p>
                  </a:txBody>
                  <a:tcPr marT="108000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 (Symptom)</a:t>
                      </a:r>
                      <a:endParaRPr lang="en-US" sz="1800" dirty="0"/>
                    </a:p>
                    <a:p>
                      <a:pPr algn="ctr"/>
                      <a:endParaRPr lang="en-IN" dirty="0"/>
                    </a:p>
                  </a:txBody>
                  <a:tcPr marT="108000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84% accuracy</a:t>
                      </a:r>
                      <a:endParaRPr lang="en-US" sz="1800" dirty="0"/>
                    </a:p>
                    <a:p>
                      <a:pPr algn="ctr"/>
                      <a:endParaRPr lang="en-IN" dirty="0"/>
                    </a:p>
                  </a:txBody>
                  <a:tcPr marT="108000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UI, limited disease scope</a:t>
                      </a:r>
                      <a:endParaRPr lang="en-US" sz="1800" dirty="0"/>
                    </a:p>
                    <a:p>
                      <a:pPr algn="ctr"/>
                      <a:endParaRPr lang="en-IN" dirty="0"/>
                    </a:p>
                  </a:txBody>
                  <a:tcPr marT="108000"/>
                </a:tc>
                <a:extLst>
                  <a:ext uri="{0D108BD9-81ED-4DB2-BD59-A6C34878D82A}">
                    <a16:rowId xmlns:a16="http://schemas.microsoft.com/office/drawing/2014/main" val="4293665663"/>
                  </a:ext>
                </a:extLst>
              </a:tr>
              <a:tr h="6737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2024</a:t>
                      </a:r>
                      <a:endParaRPr lang="en-IN" dirty="0"/>
                    </a:p>
                  </a:txBody>
                  <a:tcPr marT="108000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 et al.</a:t>
                      </a:r>
                      <a:endParaRPr lang="en-US" sz="1800" dirty="0"/>
                    </a:p>
                    <a:p>
                      <a:pPr algn="ctr"/>
                      <a:endParaRPr lang="en-IN" dirty="0"/>
                    </a:p>
                  </a:txBody>
                  <a:tcPr marT="108000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Explainable AI</a:t>
                      </a:r>
                      <a:endParaRPr lang="en-US" sz="1800" dirty="0"/>
                    </a:p>
                    <a:p>
                      <a:pPr algn="ctr"/>
                      <a:endParaRPr lang="en-IN" dirty="0"/>
                    </a:p>
                  </a:txBody>
                  <a:tcPr marT="108000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 transparency</a:t>
                      </a:r>
                      <a:endParaRPr lang="en-US" sz="1800" dirty="0"/>
                    </a:p>
                    <a:p>
                      <a:pPr algn="ctr"/>
                      <a:endParaRPr lang="en-IN" dirty="0"/>
                    </a:p>
                  </a:txBody>
                  <a:tcPr marT="108000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real-world deployment</a:t>
                      </a:r>
                      <a:endParaRPr lang="en-US" sz="1800" dirty="0"/>
                    </a:p>
                    <a:p>
                      <a:pPr algn="ctr"/>
                      <a:endParaRPr lang="en-IN" dirty="0"/>
                    </a:p>
                  </a:txBody>
                  <a:tcPr marT="108000"/>
                </a:tc>
                <a:extLst>
                  <a:ext uri="{0D108BD9-81ED-4DB2-BD59-A6C34878D82A}">
                    <a16:rowId xmlns:a16="http://schemas.microsoft.com/office/drawing/2014/main" val="40032029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561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7663" y="404300"/>
            <a:ext cx="8911687" cy="780741"/>
          </a:xfrm>
        </p:spPr>
        <p:txBody>
          <a:bodyPr/>
          <a:lstStyle/>
          <a:p>
            <a:r>
              <a:rPr lang="en-IN" dirty="0"/>
              <a:t>3. Proposed Solution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3390" y="1579959"/>
            <a:ext cx="4629984" cy="4758196"/>
          </a:xfrm>
        </p:spPr>
        <p:txBody>
          <a:bodyPr>
            <a:normAutofit/>
          </a:bodyPr>
          <a:lstStyle/>
          <a:p>
            <a:pPr algn="just"/>
            <a:r>
              <a:rPr lang="en-US" b="1" dirty="0" err="1"/>
              <a:t>Propsed</a:t>
            </a:r>
            <a:r>
              <a:rPr lang="en-US" b="1" dirty="0"/>
              <a:t> Solution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web app for symptom-driven plant disease prediction</a:t>
            </a:r>
            <a:endParaRPr lang="en-US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describe symptoms — no image required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ML model trained on 4,460 records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disease name, confidence score &amp; treatment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4E9701-3114-3334-FAF4-BB27802079D7}"/>
              </a:ext>
            </a:extLst>
          </p:cNvPr>
          <p:cNvSpPr txBox="1"/>
          <p:nvPr/>
        </p:nvSpPr>
        <p:spPr>
          <a:xfrm>
            <a:off x="7266343" y="1579959"/>
            <a:ext cx="3770625" cy="3929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Key Objective</a:t>
            </a:r>
          </a:p>
          <a:p>
            <a:pPr marL="457200" indent="-457200" algn="just">
              <a:spcBef>
                <a:spcPts val="1000"/>
              </a:spcBef>
              <a:buClr>
                <a:srgbClr val="A53010"/>
              </a:buClr>
              <a:buFont typeface="+mj-lt"/>
              <a:buAutoNum type="arabicPeriod"/>
              <a:defRPr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accessible web-based disease prediction</a:t>
            </a:r>
            <a:endParaRPr lang="en-US" sz="2400" dirty="0"/>
          </a:p>
          <a:p>
            <a:pPr marL="457200" indent="-457200" algn="just">
              <a:spcBef>
                <a:spcPts val="1000"/>
              </a:spcBef>
              <a:buClr>
                <a:srgbClr val="A53010"/>
              </a:buClr>
              <a:buFont typeface="+mj-lt"/>
              <a:buAutoNum type="arabicPeriod"/>
              <a:defRPr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high accuracy using ML algorithms</a:t>
            </a:r>
            <a:endParaRPr lang="en-US" sz="2400" dirty="0"/>
          </a:p>
          <a:p>
            <a:pPr marL="457200" indent="-457200" algn="just">
              <a:spcBef>
                <a:spcPts val="1000"/>
              </a:spcBef>
              <a:buClr>
                <a:srgbClr val="A53010"/>
              </a:buClr>
              <a:buFont typeface="+mj-lt"/>
              <a:buAutoNum type="arabicPeriod"/>
              <a:defRPr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treatment &amp; preventive suggestions</a:t>
            </a:r>
            <a:endParaRPr lang="en-US" sz="2400" dirty="0"/>
          </a:p>
          <a:p>
            <a:pPr marL="457200" indent="-457200" algn="just">
              <a:spcBef>
                <a:spcPts val="1000"/>
              </a:spcBef>
              <a:buClr>
                <a:srgbClr val="A53010"/>
              </a:buClr>
              <a:buFont typeface="+mj-lt"/>
              <a:buAutoNum type="arabicPeriod"/>
              <a:defRPr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dependency on agricultural experts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8595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1760" y="446236"/>
            <a:ext cx="8911687" cy="850100"/>
          </a:xfrm>
        </p:spPr>
        <p:txBody>
          <a:bodyPr/>
          <a:lstStyle/>
          <a:p>
            <a:r>
              <a:rPr lang="en-IN" dirty="0"/>
              <a:t>4. System Architecture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6</a:t>
            </a:fld>
            <a:endParaRPr lang="en-IN" dirty="0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12AE7BA6-392D-4DE3-8342-05743BE07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F4BB25D4-0FEF-573C-B4B3-FCC1C1B3B09B}"/>
              </a:ext>
            </a:extLst>
          </p:cNvPr>
          <p:cNvSpPr/>
          <p:nvPr/>
        </p:nvSpPr>
        <p:spPr>
          <a:xfrm>
            <a:off x="1909011" y="1466247"/>
            <a:ext cx="9313017" cy="1469457"/>
          </a:xfrm>
          <a:prstGeom prst="roundRect">
            <a:avLst>
              <a:gd name="adj" fmla="val 8333"/>
            </a:avLst>
          </a:prstGeom>
          <a:solidFill>
            <a:srgbClr val="E8F5E9"/>
          </a:solidFill>
          <a:ln w="19050">
            <a:solidFill>
              <a:srgbClr val="3D7A3E"/>
            </a:solidFill>
            <a:prstDash val="solid"/>
          </a:ln>
        </p:spPr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DDE69CEC-D79C-A92D-564C-A34807F3CA0E}"/>
              </a:ext>
            </a:extLst>
          </p:cNvPr>
          <p:cNvSpPr/>
          <p:nvPr/>
        </p:nvSpPr>
        <p:spPr>
          <a:xfrm>
            <a:off x="1909011" y="3129014"/>
            <a:ext cx="9313016" cy="1469456"/>
          </a:xfrm>
          <a:prstGeom prst="roundRect">
            <a:avLst>
              <a:gd name="adj" fmla="val 8333"/>
            </a:avLst>
          </a:prstGeom>
          <a:solidFill>
            <a:srgbClr val="C8E6C9"/>
          </a:solidFill>
          <a:ln w="19050">
            <a:solidFill>
              <a:srgbClr val="3D7A3E"/>
            </a:solidFill>
            <a:prstDash val="solid"/>
          </a:ln>
        </p:spPr>
      </p:sp>
      <p:sp>
        <p:nvSpPr>
          <p:cNvPr id="12" name="Shape 20">
            <a:extLst>
              <a:ext uri="{FF2B5EF4-FFF2-40B4-BE49-F238E27FC236}">
                <a16:creationId xmlns:a16="http://schemas.microsoft.com/office/drawing/2014/main" id="{0A812C46-249B-EC3F-1F98-72EB393D94D0}"/>
              </a:ext>
            </a:extLst>
          </p:cNvPr>
          <p:cNvSpPr/>
          <p:nvPr/>
        </p:nvSpPr>
        <p:spPr>
          <a:xfrm>
            <a:off x="1909011" y="4791780"/>
            <a:ext cx="9313016" cy="1352346"/>
          </a:xfrm>
          <a:prstGeom prst="roundRect">
            <a:avLst>
              <a:gd name="adj" fmla="val 8333"/>
            </a:avLst>
          </a:prstGeom>
          <a:solidFill>
            <a:srgbClr val="A5D6A7"/>
          </a:solidFill>
          <a:ln w="19050">
            <a:solidFill>
              <a:srgbClr val="3D7A3E"/>
            </a:solidFill>
            <a:prstDash val="solid"/>
          </a:ln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B85162-1C04-403A-1E29-8A2565B14B6A}"/>
              </a:ext>
            </a:extLst>
          </p:cNvPr>
          <p:cNvSpPr txBox="1"/>
          <p:nvPr/>
        </p:nvSpPr>
        <p:spPr>
          <a:xfrm>
            <a:off x="2271760" y="15472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73F3FC-30AA-77F7-6230-927D8D1D5979}"/>
              </a:ext>
            </a:extLst>
          </p:cNvPr>
          <p:cNvSpPr txBox="1"/>
          <p:nvPr/>
        </p:nvSpPr>
        <p:spPr>
          <a:xfrm>
            <a:off x="227176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Logic Layer</a:t>
            </a:r>
            <a:endParaRPr lang="en-US" sz="1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962C25-0E01-AB56-ECCC-4B3CB0688CA6}"/>
              </a:ext>
            </a:extLst>
          </p:cNvPr>
          <p:cNvSpPr txBox="1"/>
          <p:nvPr/>
        </p:nvSpPr>
        <p:spPr>
          <a:xfrm>
            <a:off x="2271760" y="488615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IN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DE186C56-2E0C-F3CA-5FD0-49ECFF09BC5E}"/>
              </a:ext>
            </a:extLst>
          </p:cNvPr>
          <p:cNvSpPr/>
          <p:nvPr/>
        </p:nvSpPr>
        <p:spPr>
          <a:xfrm>
            <a:off x="6096000" y="2934985"/>
            <a:ext cx="54864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95CD13CE-FF94-8829-0A40-CA52D02DA3FB}"/>
              </a:ext>
            </a:extLst>
          </p:cNvPr>
          <p:cNvSpPr/>
          <p:nvPr/>
        </p:nvSpPr>
        <p:spPr>
          <a:xfrm>
            <a:off x="6324600" y="2778348"/>
            <a:ext cx="548640" cy="369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D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B81964-F4F4-2631-5601-0CE34B8C72D7}"/>
              </a:ext>
            </a:extLst>
          </p:cNvPr>
          <p:cNvSpPr txBox="1"/>
          <p:nvPr/>
        </p:nvSpPr>
        <p:spPr>
          <a:xfrm>
            <a:off x="6352540" y="4375319"/>
            <a:ext cx="492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D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8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D7FC7F4B-26CC-CDF2-57A5-04B30E93CBDE}"/>
              </a:ext>
            </a:extLst>
          </p:cNvPr>
          <p:cNvSpPr/>
          <p:nvPr/>
        </p:nvSpPr>
        <p:spPr>
          <a:xfrm>
            <a:off x="2317480" y="2020796"/>
            <a:ext cx="2560320" cy="512064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Input Form</a:t>
            </a:r>
            <a:endParaRPr lang="en-US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66E052F2-D191-3450-BF94-F5CD42C8691E}"/>
              </a:ext>
            </a:extLst>
          </p:cNvPr>
          <p:cNvSpPr/>
          <p:nvPr/>
        </p:nvSpPr>
        <p:spPr>
          <a:xfrm>
            <a:off x="5285359" y="2010967"/>
            <a:ext cx="2560320" cy="512064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Image Upload</a:t>
            </a:r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E441488-F17D-8A27-85BB-7137BF480AAE}"/>
              </a:ext>
            </a:extLst>
          </p:cNvPr>
          <p:cNvSpPr/>
          <p:nvPr/>
        </p:nvSpPr>
        <p:spPr>
          <a:xfrm>
            <a:off x="8253238" y="1997609"/>
            <a:ext cx="2560320" cy="512064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Display Panel</a:t>
            </a:r>
            <a:endParaRPr 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A962C62-90B0-E99F-4BF3-A06F57D7A5C1}"/>
              </a:ext>
            </a:extLst>
          </p:cNvPr>
          <p:cNvSpPr/>
          <p:nvPr/>
        </p:nvSpPr>
        <p:spPr>
          <a:xfrm>
            <a:off x="2317480" y="3801954"/>
            <a:ext cx="2560320" cy="512064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(Python)</a:t>
            </a:r>
            <a:endParaRPr lang="en-US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6CCB85DC-B301-0F88-3544-4D37A5435F7E}"/>
              </a:ext>
            </a:extLst>
          </p:cNvPr>
          <p:cNvSpPr/>
          <p:nvPr/>
        </p:nvSpPr>
        <p:spPr>
          <a:xfrm>
            <a:off x="5285359" y="5373160"/>
            <a:ext cx="2560320" cy="512064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BF397301-ACEC-5588-0815-279A23AB0532}"/>
              </a:ext>
            </a:extLst>
          </p:cNvPr>
          <p:cNvSpPr/>
          <p:nvPr/>
        </p:nvSpPr>
        <p:spPr>
          <a:xfrm>
            <a:off x="2317480" y="5381667"/>
            <a:ext cx="2560320" cy="512064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522B441C-6BD2-373B-BFE4-E8064FD4417B}"/>
              </a:ext>
            </a:extLst>
          </p:cNvPr>
          <p:cNvSpPr/>
          <p:nvPr/>
        </p:nvSpPr>
        <p:spPr>
          <a:xfrm>
            <a:off x="8253238" y="3757565"/>
            <a:ext cx="2560320" cy="512064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3E269C3F-4E46-0176-3603-C899ED8889D5}"/>
              </a:ext>
            </a:extLst>
          </p:cNvPr>
          <p:cNvSpPr/>
          <p:nvPr/>
        </p:nvSpPr>
        <p:spPr>
          <a:xfrm>
            <a:off x="5285359" y="3762341"/>
            <a:ext cx="2560320" cy="512064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Module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163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Methodology &amp; Workflow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820A87E-EC61-C866-E8A5-965FD933CD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8958942"/>
              </p:ext>
            </p:extLst>
          </p:nvPr>
        </p:nvGraphicFramePr>
        <p:xfrm>
          <a:off x="2184794" y="1264554"/>
          <a:ext cx="9319817" cy="49693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0974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13992"/>
          </a:xfrm>
        </p:spPr>
        <p:txBody>
          <a:bodyPr/>
          <a:lstStyle/>
          <a:p>
            <a:r>
              <a:rPr lang="en-IN" dirty="0"/>
              <a:t>6. Technology Stack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BD38A4C9-AC5E-D9C8-4D1F-3A9DD66B3158}"/>
              </a:ext>
            </a:extLst>
          </p:cNvPr>
          <p:cNvSpPr/>
          <p:nvPr/>
        </p:nvSpPr>
        <p:spPr>
          <a:xfrm>
            <a:off x="1365182" y="1579594"/>
            <a:ext cx="3301281" cy="4437416"/>
          </a:xfrm>
          <a:prstGeom prst="roundRect">
            <a:avLst>
              <a:gd name="adj" fmla="val 3279"/>
            </a:avLst>
          </a:prstGeom>
          <a:solidFill>
            <a:srgbClr val="E8F5E9"/>
          </a:solidFill>
          <a:ln w="19050">
            <a:solidFill>
              <a:srgbClr val="C8E6C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Shape 15">
            <a:extLst>
              <a:ext uri="{FF2B5EF4-FFF2-40B4-BE49-F238E27FC236}">
                <a16:creationId xmlns:a16="http://schemas.microsoft.com/office/drawing/2014/main" id="{6F257C5F-7BD8-8B37-2BD4-81B38A2F5BF9}"/>
              </a:ext>
            </a:extLst>
          </p:cNvPr>
          <p:cNvSpPr/>
          <p:nvPr/>
        </p:nvSpPr>
        <p:spPr>
          <a:xfrm>
            <a:off x="4835836" y="1579594"/>
            <a:ext cx="3301281" cy="4437416"/>
          </a:xfrm>
          <a:prstGeom prst="roundRect">
            <a:avLst>
              <a:gd name="adj" fmla="val 3279"/>
            </a:avLst>
          </a:prstGeom>
          <a:solidFill>
            <a:srgbClr val="F1F8E9"/>
          </a:solidFill>
          <a:ln w="19050">
            <a:solidFill>
              <a:srgbClr val="C8E6C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28">
            <a:extLst>
              <a:ext uri="{FF2B5EF4-FFF2-40B4-BE49-F238E27FC236}">
                <a16:creationId xmlns:a16="http://schemas.microsoft.com/office/drawing/2014/main" id="{A2B36E4A-4E41-0849-54E0-164898EC9730}"/>
              </a:ext>
            </a:extLst>
          </p:cNvPr>
          <p:cNvSpPr/>
          <p:nvPr/>
        </p:nvSpPr>
        <p:spPr>
          <a:xfrm>
            <a:off x="8319854" y="1579594"/>
            <a:ext cx="3301281" cy="4437416"/>
          </a:xfrm>
          <a:prstGeom prst="roundRect">
            <a:avLst>
              <a:gd name="adj" fmla="val 3279"/>
            </a:avLst>
          </a:prstGeom>
          <a:solidFill>
            <a:srgbClr val="E8F5E9"/>
          </a:solidFill>
          <a:ln w="19050">
            <a:solidFill>
              <a:srgbClr val="C8E6C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4570A92-449E-DBE9-62E5-67F09314C587}"/>
              </a:ext>
            </a:extLst>
          </p:cNvPr>
          <p:cNvGrpSpPr/>
          <p:nvPr/>
        </p:nvGrpSpPr>
        <p:grpSpPr>
          <a:xfrm>
            <a:off x="1427586" y="1767046"/>
            <a:ext cx="10077025" cy="3993674"/>
            <a:chOff x="365760" y="1170432"/>
            <a:chExt cx="8513064" cy="3374136"/>
          </a:xfrm>
        </p:grpSpPr>
        <p:sp>
          <p:nvSpPr>
            <p:cNvPr id="11" name="Text 3">
              <a:extLst>
                <a:ext uri="{FF2B5EF4-FFF2-40B4-BE49-F238E27FC236}">
                  <a16:creationId xmlns:a16="http://schemas.microsoft.com/office/drawing/2014/main" id="{06F45724-136A-A79B-DB36-ECDB0389CBF6}"/>
                </a:ext>
              </a:extLst>
            </p:cNvPr>
            <p:cNvSpPr/>
            <p:nvPr/>
          </p:nvSpPr>
          <p:spPr>
            <a:xfrm>
              <a:off x="365760" y="1170432"/>
              <a:ext cx="260604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2C5F2D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Backend &amp; ML</a:t>
              </a:r>
              <a:endParaRPr lang="en-US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Shape 4">
              <a:extLst>
                <a:ext uri="{FF2B5EF4-FFF2-40B4-BE49-F238E27FC236}">
                  <a16:creationId xmlns:a16="http://schemas.microsoft.com/office/drawing/2014/main" id="{51F495C0-06C2-A520-66E9-A0FAF15882C0}"/>
                </a:ext>
              </a:extLst>
            </p:cNvPr>
            <p:cNvSpPr/>
            <p:nvPr/>
          </p:nvSpPr>
          <p:spPr>
            <a:xfrm>
              <a:off x="365760" y="1572768"/>
              <a:ext cx="2606040" cy="27432"/>
            </a:xfrm>
            <a:prstGeom prst="rect">
              <a:avLst/>
            </a:prstGeom>
            <a:solidFill>
              <a:srgbClr val="3D7A3E"/>
            </a:solidFill>
            <a:ln w="12700">
              <a:solidFill>
                <a:srgbClr val="3D7A3E"/>
              </a:solidFill>
              <a:prstDash val="solid"/>
            </a:ln>
          </p:spPr>
        </p:sp>
        <p:sp>
          <p:nvSpPr>
            <p:cNvPr id="13" name="Shape 5">
              <a:extLst>
                <a:ext uri="{FF2B5EF4-FFF2-40B4-BE49-F238E27FC236}">
                  <a16:creationId xmlns:a16="http://schemas.microsoft.com/office/drawing/2014/main" id="{3CD5024F-C799-3AD6-A948-8FD010B02A25}"/>
                </a:ext>
              </a:extLst>
            </p:cNvPr>
            <p:cNvSpPr/>
            <p:nvPr/>
          </p:nvSpPr>
          <p:spPr>
            <a:xfrm>
              <a:off x="411480" y="1691640"/>
              <a:ext cx="251460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10160">
              <a:solidFill>
                <a:srgbClr val="C8E6C9"/>
              </a:solidFill>
              <a:prstDash val="solid"/>
            </a:ln>
          </p:spPr>
        </p:sp>
        <p:sp>
          <p:nvSpPr>
            <p:cNvPr id="14" name="Text 6">
              <a:extLst>
                <a:ext uri="{FF2B5EF4-FFF2-40B4-BE49-F238E27FC236}">
                  <a16:creationId xmlns:a16="http://schemas.microsoft.com/office/drawing/2014/main" id="{D4AF6840-1E84-49BF-1C1B-5952EF2D9F28}"/>
                </a:ext>
              </a:extLst>
            </p:cNvPr>
            <p:cNvSpPr/>
            <p:nvPr/>
          </p:nvSpPr>
          <p:spPr>
            <a:xfrm>
              <a:off x="457200" y="1709928"/>
              <a:ext cx="24231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Python 3.10</a:t>
              </a:r>
              <a:endParaRPr lang="en-US" dirty="0"/>
            </a:p>
          </p:txBody>
        </p:sp>
        <p:sp>
          <p:nvSpPr>
            <p:cNvPr id="15" name="Shape 7">
              <a:extLst>
                <a:ext uri="{FF2B5EF4-FFF2-40B4-BE49-F238E27FC236}">
                  <a16:creationId xmlns:a16="http://schemas.microsoft.com/office/drawing/2014/main" id="{6666C025-7F26-E457-E97A-29C8819CCAB3}"/>
                </a:ext>
              </a:extLst>
            </p:cNvPr>
            <p:cNvSpPr/>
            <p:nvPr/>
          </p:nvSpPr>
          <p:spPr>
            <a:xfrm>
              <a:off x="411480" y="2286000"/>
              <a:ext cx="251460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10160">
              <a:solidFill>
                <a:srgbClr val="C8E6C9"/>
              </a:solidFill>
              <a:prstDash val="solid"/>
            </a:ln>
          </p:spPr>
        </p:sp>
        <p:sp>
          <p:nvSpPr>
            <p:cNvPr id="16" name="Text 8">
              <a:extLst>
                <a:ext uri="{FF2B5EF4-FFF2-40B4-BE49-F238E27FC236}">
                  <a16:creationId xmlns:a16="http://schemas.microsoft.com/office/drawing/2014/main" id="{D3CC835D-2948-1B97-862F-2F7186552950}"/>
                </a:ext>
              </a:extLst>
            </p:cNvPr>
            <p:cNvSpPr/>
            <p:nvPr/>
          </p:nvSpPr>
          <p:spPr>
            <a:xfrm>
              <a:off x="457200" y="2304288"/>
              <a:ext cx="24231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Flask 2.3.2</a:t>
              </a:r>
              <a:endParaRPr lang="en-US" dirty="0"/>
            </a:p>
          </p:txBody>
        </p:sp>
        <p:sp>
          <p:nvSpPr>
            <p:cNvPr id="17" name="Shape 9">
              <a:extLst>
                <a:ext uri="{FF2B5EF4-FFF2-40B4-BE49-F238E27FC236}">
                  <a16:creationId xmlns:a16="http://schemas.microsoft.com/office/drawing/2014/main" id="{E24635B7-E388-090E-162B-97C6A43712EE}"/>
                </a:ext>
              </a:extLst>
            </p:cNvPr>
            <p:cNvSpPr/>
            <p:nvPr/>
          </p:nvSpPr>
          <p:spPr>
            <a:xfrm>
              <a:off x="411480" y="2880360"/>
              <a:ext cx="251460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10160">
              <a:solidFill>
                <a:srgbClr val="C8E6C9"/>
              </a:solidFill>
              <a:prstDash val="solid"/>
            </a:ln>
          </p:spPr>
        </p:sp>
        <p:sp>
          <p:nvSpPr>
            <p:cNvPr id="18" name="Text 10">
              <a:extLst>
                <a:ext uri="{FF2B5EF4-FFF2-40B4-BE49-F238E27FC236}">
                  <a16:creationId xmlns:a16="http://schemas.microsoft.com/office/drawing/2014/main" id="{2531F136-2A86-3049-5F8C-84FA6706743A}"/>
                </a:ext>
              </a:extLst>
            </p:cNvPr>
            <p:cNvSpPr/>
            <p:nvPr/>
          </p:nvSpPr>
          <p:spPr>
            <a:xfrm>
              <a:off x="457200" y="2898648"/>
              <a:ext cx="24231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Scikit-learn 1.3.0</a:t>
              </a:r>
              <a:endParaRPr lang="en-US" dirty="0"/>
            </a:p>
          </p:txBody>
        </p:sp>
        <p:sp>
          <p:nvSpPr>
            <p:cNvPr id="19" name="Shape 11">
              <a:extLst>
                <a:ext uri="{FF2B5EF4-FFF2-40B4-BE49-F238E27FC236}">
                  <a16:creationId xmlns:a16="http://schemas.microsoft.com/office/drawing/2014/main" id="{92F1139B-4208-3554-1640-13971815D853}"/>
                </a:ext>
              </a:extLst>
            </p:cNvPr>
            <p:cNvSpPr/>
            <p:nvPr/>
          </p:nvSpPr>
          <p:spPr>
            <a:xfrm>
              <a:off x="411480" y="3474720"/>
              <a:ext cx="251460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10160">
              <a:solidFill>
                <a:srgbClr val="C8E6C9"/>
              </a:solidFill>
              <a:prstDash val="solid"/>
            </a:ln>
          </p:spPr>
        </p:sp>
        <p:sp>
          <p:nvSpPr>
            <p:cNvPr id="20" name="Text 12">
              <a:extLst>
                <a:ext uri="{FF2B5EF4-FFF2-40B4-BE49-F238E27FC236}">
                  <a16:creationId xmlns:a16="http://schemas.microsoft.com/office/drawing/2014/main" id="{65D457E6-7BD1-E5A9-4FFD-613392A78AEC}"/>
                </a:ext>
              </a:extLst>
            </p:cNvPr>
            <p:cNvSpPr/>
            <p:nvPr/>
          </p:nvSpPr>
          <p:spPr>
            <a:xfrm>
              <a:off x="457200" y="3493008"/>
              <a:ext cx="24231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Pandas &amp; NumPy</a:t>
              </a:r>
              <a:endParaRPr lang="en-US" dirty="0"/>
            </a:p>
          </p:txBody>
        </p:sp>
        <p:sp>
          <p:nvSpPr>
            <p:cNvPr id="21" name="Shape 13">
              <a:extLst>
                <a:ext uri="{FF2B5EF4-FFF2-40B4-BE49-F238E27FC236}">
                  <a16:creationId xmlns:a16="http://schemas.microsoft.com/office/drawing/2014/main" id="{B2B3B124-92F2-F9D5-A752-7B64253CB6F7}"/>
                </a:ext>
              </a:extLst>
            </p:cNvPr>
            <p:cNvSpPr/>
            <p:nvPr/>
          </p:nvSpPr>
          <p:spPr>
            <a:xfrm>
              <a:off x="411480" y="4069080"/>
              <a:ext cx="251460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10160">
              <a:solidFill>
                <a:srgbClr val="C8E6C9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2" name="Text 14">
              <a:extLst>
                <a:ext uri="{FF2B5EF4-FFF2-40B4-BE49-F238E27FC236}">
                  <a16:creationId xmlns:a16="http://schemas.microsoft.com/office/drawing/2014/main" id="{AC437013-2358-EAB7-7450-D05705E2345F}"/>
                </a:ext>
              </a:extLst>
            </p:cNvPr>
            <p:cNvSpPr/>
            <p:nvPr/>
          </p:nvSpPr>
          <p:spPr>
            <a:xfrm>
              <a:off x="457200" y="4087368"/>
              <a:ext cx="24231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Joblib 1.3.2</a:t>
              </a:r>
              <a:endParaRPr lang="en-US" dirty="0"/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73BC3313-B984-935D-EFDA-5B247E2C0098}"/>
                </a:ext>
              </a:extLst>
            </p:cNvPr>
            <p:cNvSpPr/>
            <p:nvPr/>
          </p:nvSpPr>
          <p:spPr>
            <a:xfrm>
              <a:off x="3319272" y="1170432"/>
              <a:ext cx="260604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2C5F2D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Frontend</a:t>
              </a:r>
              <a:endParaRPr lang="en-US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Shape 17">
              <a:extLst>
                <a:ext uri="{FF2B5EF4-FFF2-40B4-BE49-F238E27FC236}">
                  <a16:creationId xmlns:a16="http://schemas.microsoft.com/office/drawing/2014/main" id="{BB8DDB5F-6AB7-57FF-A04D-F5360C0CC701}"/>
                </a:ext>
              </a:extLst>
            </p:cNvPr>
            <p:cNvSpPr/>
            <p:nvPr/>
          </p:nvSpPr>
          <p:spPr>
            <a:xfrm>
              <a:off x="3319272" y="1572768"/>
              <a:ext cx="2606040" cy="27432"/>
            </a:xfrm>
            <a:prstGeom prst="rect">
              <a:avLst/>
            </a:prstGeom>
            <a:solidFill>
              <a:srgbClr val="3D7A3E"/>
            </a:solidFill>
            <a:ln w="12700">
              <a:solidFill>
                <a:srgbClr val="3D7A3E"/>
              </a:solidFill>
              <a:prstDash val="solid"/>
            </a:ln>
          </p:spPr>
        </p:sp>
        <p:sp>
          <p:nvSpPr>
            <p:cNvPr id="25" name="Shape 18">
              <a:extLst>
                <a:ext uri="{FF2B5EF4-FFF2-40B4-BE49-F238E27FC236}">
                  <a16:creationId xmlns:a16="http://schemas.microsoft.com/office/drawing/2014/main" id="{4EECBC69-2652-EDF4-6EAD-FC9687E419BC}"/>
                </a:ext>
              </a:extLst>
            </p:cNvPr>
            <p:cNvSpPr/>
            <p:nvPr/>
          </p:nvSpPr>
          <p:spPr>
            <a:xfrm>
              <a:off x="3364992" y="1691640"/>
              <a:ext cx="251460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10160">
              <a:solidFill>
                <a:srgbClr val="C8E6C9"/>
              </a:solidFill>
              <a:prstDash val="solid"/>
            </a:ln>
          </p:spPr>
        </p:sp>
        <p:sp>
          <p:nvSpPr>
            <p:cNvPr id="26" name="Text 19">
              <a:extLst>
                <a:ext uri="{FF2B5EF4-FFF2-40B4-BE49-F238E27FC236}">
                  <a16:creationId xmlns:a16="http://schemas.microsoft.com/office/drawing/2014/main" id="{6ECF14FA-E3CB-3ED6-9A60-D8CDACE403FA}"/>
                </a:ext>
              </a:extLst>
            </p:cNvPr>
            <p:cNvSpPr/>
            <p:nvPr/>
          </p:nvSpPr>
          <p:spPr>
            <a:xfrm>
              <a:off x="3410712" y="1709928"/>
              <a:ext cx="24231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HTML5</a:t>
              </a:r>
              <a:endParaRPr lang="en-US" dirty="0"/>
            </a:p>
          </p:txBody>
        </p:sp>
        <p:sp>
          <p:nvSpPr>
            <p:cNvPr id="27" name="Shape 20">
              <a:extLst>
                <a:ext uri="{FF2B5EF4-FFF2-40B4-BE49-F238E27FC236}">
                  <a16:creationId xmlns:a16="http://schemas.microsoft.com/office/drawing/2014/main" id="{428D8234-0842-6808-7DE1-52972B776F40}"/>
                </a:ext>
              </a:extLst>
            </p:cNvPr>
            <p:cNvSpPr/>
            <p:nvPr/>
          </p:nvSpPr>
          <p:spPr>
            <a:xfrm>
              <a:off x="3364992" y="2286000"/>
              <a:ext cx="251460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10160">
              <a:solidFill>
                <a:srgbClr val="C8E6C9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8" name="Text 21">
              <a:extLst>
                <a:ext uri="{FF2B5EF4-FFF2-40B4-BE49-F238E27FC236}">
                  <a16:creationId xmlns:a16="http://schemas.microsoft.com/office/drawing/2014/main" id="{9F3A8720-1ED8-A0D2-1D79-695922A2E84A}"/>
                </a:ext>
              </a:extLst>
            </p:cNvPr>
            <p:cNvSpPr/>
            <p:nvPr/>
          </p:nvSpPr>
          <p:spPr>
            <a:xfrm>
              <a:off x="3410712" y="2304288"/>
              <a:ext cx="24231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CSS3</a:t>
              </a:r>
              <a:endParaRPr lang="en-US" dirty="0"/>
            </a:p>
          </p:txBody>
        </p:sp>
        <p:sp>
          <p:nvSpPr>
            <p:cNvPr id="29" name="Shape 22">
              <a:extLst>
                <a:ext uri="{FF2B5EF4-FFF2-40B4-BE49-F238E27FC236}">
                  <a16:creationId xmlns:a16="http://schemas.microsoft.com/office/drawing/2014/main" id="{9A28C8E8-EF58-26FA-C420-77967B2FEFE4}"/>
                </a:ext>
              </a:extLst>
            </p:cNvPr>
            <p:cNvSpPr/>
            <p:nvPr/>
          </p:nvSpPr>
          <p:spPr>
            <a:xfrm>
              <a:off x="3364992" y="2880360"/>
              <a:ext cx="251460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10160">
              <a:solidFill>
                <a:srgbClr val="C8E6C9"/>
              </a:solidFill>
              <a:prstDash val="solid"/>
            </a:ln>
          </p:spPr>
        </p:sp>
        <p:sp>
          <p:nvSpPr>
            <p:cNvPr id="30" name="Text 23">
              <a:extLst>
                <a:ext uri="{FF2B5EF4-FFF2-40B4-BE49-F238E27FC236}">
                  <a16:creationId xmlns:a16="http://schemas.microsoft.com/office/drawing/2014/main" id="{FA82699E-1BC1-999D-156B-B5054BB7ABB9}"/>
                </a:ext>
              </a:extLst>
            </p:cNvPr>
            <p:cNvSpPr/>
            <p:nvPr/>
          </p:nvSpPr>
          <p:spPr>
            <a:xfrm>
              <a:off x="3410712" y="2898648"/>
              <a:ext cx="24231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JavaScript</a:t>
              </a:r>
              <a:endParaRPr lang="en-US" dirty="0"/>
            </a:p>
          </p:txBody>
        </p:sp>
        <p:sp>
          <p:nvSpPr>
            <p:cNvPr id="31" name="Shape 24">
              <a:extLst>
                <a:ext uri="{FF2B5EF4-FFF2-40B4-BE49-F238E27FC236}">
                  <a16:creationId xmlns:a16="http://schemas.microsoft.com/office/drawing/2014/main" id="{48719D26-D06E-5C24-42A3-653139F82887}"/>
                </a:ext>
              </a:extLst>
            </p:cNvPr>
            <p:cNvSpPr/>
            <p:nvPr/>
          </p:nvSpPr>
          <p:spPr>
            <a:xfrm>
              <a:off x="3364992" y="3474720"/>
              <a:ext cx="251460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10160">
              <a:solidFill>
                <a:srgbClr val="C8E6C9"/>
              </a:solidFill>
              <a:prstDash val="solid"/>
            </a:ln>
          </p:spPr>
        </p:sp>
        <p:sp>
          <p:nvSpPr>
            <p:cNvPr id="32" name="Text 25">
              <a:extLst>
                <a:ext uri="{FF2B5EF4-FFF2-40B4-BE49-F238E27FC236}">
                  <a16:creationId xmlns:a16="http://schemas.microsoft.com/office/drawing/2014/main" id="{5A2D81C7-E386-A1AE-3C76-5AF87C94C6D6}"/>
                </a:ext>
              </a:extLst>
            </p:cNvPr>
            <p:cNvSpPr/>
            <p:nvPr/>
          </p:nvSpPr>
          <p:spPr>
            <a:xfrm>
              <a:off x="3410712" y="3493008"/>
              <a:ext cx="24231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AJAX</a:t>
              </a:r>
              <a:endParaRPr lang="en-US" dirty="0"/>
            </a:p>
          </p:txBody>
        </p:sp>
        <p:sp>
          <p:nvSpPr>
            <p:cNvPr id="33" name="Shape 26">
              <a:extLst>
                <a:ext uri="{FF2B5EF4-FFF2-40B4-BE49-F238E27FC236}">
                  <a16:creationId xmlns:a16="http://schemas.microsoft.com/office/drawing/2014/main" id="{D5AC0B2E-BCCC-EF3D-42B9-E1B08D07B8C1}"/>
                </a:ext>
              </a:extLst>
            </p:cNvPr>
            <p:cNvSpPr/>
            <p:nvPr/>
          </p:nvSpPr>
          <p:spPr>
            <a:xfrm>
              <a:off x="3364992" y="4069080"/>
              <a:ext cx="251460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10160">
              <a:solidFill>
                <a:srgbClr val="C8E6C9"/>
              </a:solidFill>
              <a:prstDash val="solid"/>
            </a:ln>
          </p:spPr>
        </p:sp>
        <p:sp>
          <p:nvSpPr>
            <p:cNvPr id="34" name="Text 27">
              <a:extLst>
                <a:ext uri="{FF2B5EF4-FFF2-40B4-BE49-F238E27FC236}">
                  <a16:creationId xmlns:a16="http://schemas.microsoft.com/office/drawing/2014/main" id="{4F9F051B-16A8-D07A-8166-BF992B7B931C}"/>
                </a:ext>
              </a:extLst>
            </p:cNvPr>
            <p:cNvSpPr/>
            <p:nvPr/>
          </p:nvSpPr>
          <p:spPr>
            <a:xfrm>
              <a:off x="3410712" y="4087368"/>
              <a:ext cx="24231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Jinja2 Templates</a:t>
              </a:r>
              <a:endParaRPr lang="en-US" dirty="0"/>
            </a:p>
          </p:txBody>
        </p:sp>
        <p:sp>
          <p:nvSpPr>
            <p:cNvPr id="35" name="Text 29">
              <a:extLst>
                <a:ext uri="{FF2B5EF4-FFF2-40B4-BE49-F238E27FC236}">
                  <a16:creationId xmlns:a16="http://schemas.microsoft.com/office/drawing/2014/main" id="{82883116-7AD3-685D-1360-7F96B91F5F38}"/>
                </a:ext>
              </a:extLst>
            </p:cNvPr>
            <p:cNvSpPr/>
            <p:nvPr/>
          </p:nvSpPr>
          <p:spPr>
            <a:xfrm>
              <a:off x="6272784" y="1170432"/>
              <a:ext cx="260604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2C5F2D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Database &amp; Auth</a:t>
              </a:r>
              <a:endParaRPr lang="en-US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Shape 30">
              <a:extLst>
                <a:ext uri="{FF2B5EF4-FFF2-40B4-BE49-F238E27FC236}">
                  <a16:creationId xmlns:a16="http://schemas.microsoft.com/office/drawing/2014/main" id="{CE86D681-1F7B-8C27-F566-755344CC0FD8}"/>
                </a:ext>
              </a:extLst>
            </p:cNvPr>
            <p:cNvSpPr/>
            <p:nvPr/>
          </p:nvSpPr>
          <p:spPr>
            <a:xfrm>
              <a:off x="6272784" y="1572768"/>
              <a:ext cx="2606040" cy="27432"/>
            </a:xfrm>
            <a:prstGeom prst="rect">
              <a:avLst/>
            </a:prstGeom>
            <a:solidFill>
              <a:srgbClr val="3D7A3E"/>
            </a:solidFill>
            <a:ln w="12700">
              <a:solidFill>
                <a:srgbClr val="3D7A3E"/>
              </a:solidFill>
              <a:prstDash val="solid"/>
            </a:ln>
          </p:spPr>
        </p:sp>
        <p:sp>
          <p:nvSpPr>
            <p:cNvPr id="37" name="Shape 31">
              <a:extLst>
                <a:ext uri="{FF2B5EF4-FFF2-40B4-BE49-F238E27FC236}">
                  <a16:creationId xmlns:a16="http://schemas.microsoft.com/office/drawing/2014/main" id="{8F22E6C6-80F1-4CCD-5C92-D77DC64EFC89}"/>
                </a:ext>
              </a:extLst>
            </p:cNvPr>
            <p:cNvSpPr/>
            <p:nvPr/>
          </p:nvSpPr>
          <p:spPr>
            <a:xfrm>
              <a:off x="6318504" y="1691640"/>
              <a:ext cx="251460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10160">
              <a:solidFill>
                <a:srgbClr val="C8E6C9"/>
              </a:solidFill>
              <a:prstDash val="solid"/>
            </a:ln>
          </p:spPr>
        </p:sp>
        <p:sp>
          <p:nvSpPr>
            <p:cNvPr id="38" name="Text 32">
              <a:extLst>
                <a:ext uri="{FF2B5EF4-FFF2-40B4-BE49-F238E27FC236}">
                  <a16:creationId xmlns:a16="http://schemas.microsoft.com/office/drawing/2014/main" id="{15D1DA92-A202-D96D-D658-16061A364830}"/>
                </a:ext>
              </a:extLst>
            </p:cNvPr>
            <p:cNvSpPr/>
            <p:nvPr/>
          </p:nvSpPr>
          <p:spPr>
            <a:xfrm>
              <a:off x="6364224" y="1709928"/>
              <a:ext cx="24231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MySQL 8.0</a:t>
              </a:r>
              <a:endParaRPr lang="en-US" dirty="0"/>
            </a:p>
          </p:txBody>
        </p:sp>
        <p:sp>
          <p:nvSpPr>
            <p:cNvPr id="39" name="Shape 33">
              <a:extLst>
                <a:ext uri="{FF2B5EF4-FFF2-40B4-BE49-F238E27FC236}">
                  <a16:creationId xmlns:a16="http://schemas.microsoft.com/office/drawing/2014/main" id="{31E26E7D-00CE-D84B-D41E-31BE8F9D1E51}"/>
                </a:ext>
              </a:extLst>
            </p:cNvPr>
            <p:cNvSpPr/>
            <p:nvPr/>
          </p:nvSpPr>
          <p:spPr>
            <a:xfrm>
              <a:off x="6318504" y="2286000"/>
              <a:ext cx="251460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10160">
              <a:solidFill>
                <a:srgbClr val="C8E6C9"/>
              </a:solidFill>
              <a:prstDash val="solid"/>
            </a:ln>
          </p:spPr>
        </p:sp>
        <p:sp>
          <p:nvSpPr>
            <p:cNvPr id="40" name="Text 34">
              <a:extLst>
                <a:ext uri="{FF2B5EF4-FFF2-40B4-BE49-F238E27FC236}">
                  <a16:creationId xmlns:a16="http://schemas.microsoft.com/office/drawing/2014/main" id="{38C33AB7-0DF6-7C50-8AD1-15F6E482EF07}"/>
                </a:ext>
              </a:extLst>
            </p:cNvPr>
            <p:cNvSpPr/>
            <p:nvPr/>
          </p:nvSpPr>
          <p:spPr>
            <a:xfrm>
              <a:off x="6364224" y="2304288"/>
              <a:ext cx="24231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Firebase 10.x</a:t>
              </a:r>
              <a:endParaRPr lang="en-US" dirty="0"/>
            </a:p>
          </p:txBody>
        </p:sp>
        <p:sp>
          <p:nvSpPr>
            <p:cNvPr id="41" name="Shape 35">
              <a:extLst>
                <a:ext uri="{FF2B5EF4-FFF2-40B4-BE49-F238E27FC236}">
                  <a16:creationId xmlns:a16="http://schemas.microsoft.com/office/drawing/2014/main" id="{443E8F4A-2486-4B18-0AE1-E42C4475B107}"/>
                </a:ext>
              </a:extLst>
            </p:cNvPr>
            <p:cNvSpPr/>
            <p:nvPr/>
          </p:nvSpPr>
          <p:spPr>
            <a:xfrm>
              <a:off x="6318504" y="2880360"/>
              <a:ext cx="251460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10160">
              <a:solidFill>
                <a:srgbClr val="C8E6C9"/>
              </a:solidFill>
              <a:prstDash val="solid"/>
            </a:ln>
          </p:spPr>
        </p:sp>
        <p:sp>
          <p:nvSpPr>
            <p:cNvPr id="42" name="Text 36">
              <a:extLst>
                <a:ext uri="{FF2B5EF4-FFF2-40B4-BE49-F238E27FC236}">
                  <a16:creationId xmlns:a16="http://schemas.microsoft.com/office/drawing/2014/main" id="{56C6FE2A-CB2A-F74C-B1F3-F2547E39E397}"/>
                </a:ext>
              </a:extLst>
            </p:cNvPr>
            <p:cNvSpPr/>
            <p:nvPr/>
          </p:nvSpPr>
          <p:spPr>
            <a:xfrm>
              <a:off x="6364224" y="2898648"/>
              <a:ext cx="24231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OpenCV 4.8.0</a:t>
              </a:r>
              <a:endParaRPr lang="en-US" dirty="0"/>
            </a:p>
          </p:txBody>
        </p:sp>
      </p:grpSp>
      <p:pic>
        <p:nvPicPr>
          <p:cNvPr id="43" name="Image 0" descr="/home/claude/img8.jpg">
            <a:extLst>
              <a:ext uri="{FF2B5EF4-FFF2-40B4-BE49-F238E27FC236}">
                <a16:creationId xmlns:a16="http://schemas.microsoft.com/office/drawing/2014/main" id="{1D8850FD-0E5B-06D1-7F1F-27EEBA29D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1097280"/>
            <a:ext cx="9144" cy="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225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449543"/>
            <a:ext cx="8911687" cy="815012"/>
          </a:xfrm>
        </p:spPr>
        <p:txBody>
          <a:bodyPr/>
          <a:lstStyle/>
          <a:p>
            <a:r>
              <a:rPr lang="en-IN" dirty="0"/>
              <a:t>6.1 System Screenshots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9</a:t>
            </a:fld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E0812D-D0AE-A725-3C8D-5170AB906A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00" y="1475873"/>
            <a:ext cx="5972600" cy="38821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407E65-3EC6-1B67-EE3E-DE35C3597D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9400" y="1475873"/>
            <a:ext cx="5972600" cy="388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500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17151-BB87-C880-3BA1-8BD8EA3D2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10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18B954-433E-DDB2-22A9-2950D0C18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449543"/>
            <a:ext cx="8911687" cy="815012"/>
          </a:xfrm>
        </p:spPr>
        <p:txBody>
          <a:bodyPr/>
          <a:lstStyle/>
          <a:p>
            <a:r>
              <a:rPr lang="en-IN" dirty="0"/>
              <a:t>System Screenshots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B8D7B9-A784-FB4F-A87C-3AFADE7CCE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63" y="1931567"/>
            <a:ext cx="6120804" cy="42714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3652A9-C94F-B937-DB1D-49F6A8C441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266" y="1920717"/>
            <a:ext cx="5894733" cy="383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016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2333" y="582785"/>
            <a:ext cx="8947679" cy="822682"/>
          </a:xfrm>
        </p:spPr>
        <p:txBody>
          <a:bodyPr/>
          <a:lstStyle/>
          <a:p>
            <a:r>
              <a:rPr lang="en-US" dirty="0"/>
              <a:t>7. Result &amp; Performance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11</a:t>
            </a:fld>
            <a:endParaRPr lang="en-IN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5374F00-01B7-1D7F-B693-C6F7FBADC3F5}"/>
              </a:ext>
            </a:extLst>
          </p:cNvPr>
          <p:cNvGrpSpPr/>
          <p:nvPr/>
        </p:nvGrpSpPr>
        <p:grpSpPr>
          <a:xfrm>
            <a:off x="1514168" y="3172486"/>
            <a:ext cx="9930579" cy="2530222"/>
            <a:chOff x="274320" y="2743200"/>
            <a:chExt cx="8549640" cy="1975104"/>
          </a:xfrm>
        </p:grpSpPr>
        <p:sp>
          <p:nvSpPr>
            <p:cNvPr id="13" name="Shape 18">
              <a:extLst>
                <a:ext uri="{FF2B5EF4-FFF2-40B4-BE49-F238E27FC236}">
                  <a16:creationId xmlns:a16="http://schemas.microsoft.com/office/drawing/2014/main" id="{DF1933C8-C12D-210B-A841-80E076445323}"/>
                </a:ext>
              </a:extLst>
            </p:cNvPr>
            <p:cNvSpPr/>
            <p:nvPr/>
          </p:nvSpPr>
          <p:spPr>
            <a:xfrm>
              <a:off x="274320" y="2743200"/>
              <a:ext cx="2057400" cy="347472"/>
            </a:xfrm>
            <a:prstGeom prst="rect">
              <a:avLst/>
            </a:prstGeom>
            <a:solidFill>
              <a:srgbClr val="3D7A3E"/>
            </a:solidFill>
            <a:ln w="12700">
              <a:solidFill>
                <a:srgbClr val="3D7A3E"/>
              </a:solidFill>
              <a:prstDash val="solid"/>
            </a:ln>
          </p:spPr>
        </p:sp>
        <p:sp>
          <p:nvSpPr>
            <p:cNvPr id="14" name="Text 19">
              <a:extLst>
                <a:ext uri="{FF2B5EF4-FFF2-40B4-BE49-F238E27FC236}">
                  <a16:creationId xmlns:a16="http://schemas.microsoft.com/office/drawing/2014/main" id="{FAB07E5B-702C-DA1B-6B2D-C2CC5A9D8228}"/>
                </a:ext>
              </a:extLst>
            </p:cNvPr>
            <p:cNvSpPr/>
            <p:nvPr/>
          </p:nvSpPr>
          <p:spPr>
            <a:xfrm>
              <a:off x="274320" y="2743200"/>
              <a:ext cx="20574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</a:t>
              </a:r>
              <a:endParaRPr lang="en-US" dirty="0"/>
            </a:p>
          </p:txBody>
        </p:sp>
        <p:sp>
          <p:nvSpPr>
            <p:cNvPr id="15" name="Shape 20">
              <a:extLst>
                <a:ext uri="{FF2B5EF4-FFF2-40B4-BE49-F238E27FC236}">
                  <a16:creationId xmlns:a16="http://schemas.microsoft.com/office/drawing/2014/main" id="{77E0145D-221E-D14D-F4B5-2A9453F35AA8}"/>
                </a:ext>
              </a:extLst>
            </p:cNvPr>
            <p:cNvSpPr/>
            <p:nvPr/>
          </p:nvSpPr>
          <p:spPr>
            <a:xfrm>
              <a:off x="2377440" y="2743200"/>
              <a:ext cx="1600200" cy="347472"/>
            </a:xfrm>
            <a:prstGeom prst="rect">
              <a:avLst/>
            </a:prstGeom>
            <a:solidFill>
              <a:srgbClr val="3D7A3E"/>
            </a:solidFill>
            <a:ln w="12700">
              <a:solidFill>
                <a:srgbClr val="3D7A3E"/>
              </a:solidFill>
              <a:prstDash val="solid"/>
            </a:ln>
          </p:spPr>
        </p:sp>
        <p:sp>
          <p:nvSpPr>
            <p:cNvPr id="16" name="Text 21">
              <a:extLst>
                <a:ext uri="{FF2B5EF4-FFF2-40B4-BE49-F238E27FC236}">
                  <a16:creationId xmlns:a16="http://schemas.microsoft.com/office/drawing/2014/main" id="{38B225BD-2490-E075-377C-E245AD013DA6}"/>
                </a:ext>
              </a:extLst>
            </p:cNvPr>
            <p:cNvSpPr/>
            <p:nvPr/>
          </p:nvSpPr>
          <p:spPr>
            <a:xfrm>
              <a:off x="2377440" y="2743200"/>
              <a:ext cx="16002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Accuracy</a:t>
              </a:r>
              <a:endParaRPr lang="en-US" dirty="0"/>
            </a:p>
          </p:txBody>
        </p:sp>
        <p:sp>
          <p:nvSpPr>
            <p:cNvPr id="17" name="Shape 22">
              <a:extLst>
                <a:ext uri="{FF2B5EF4-FFF2-40B4-BE49-F238E27FC236}">
                  <a16:creationId xmlns:a16="http://schemas.microsoft.com/office/drawing/2014/main" id="{2C6611C8-78DC-CE05-6D84-816C02248F62}"/>
                </a:ext>
              </a:extLst>
            </p:cNvPr>
            <p:cNvSpPr/>
            <p:nvPr/>
          </p:nvSpPr>
          <p:spPr>
            <a:xfrm>
              <a:off x="4023360" y="2743200"/>
              <a:ext cx="1508760" cy="347472"/>
            </a:xfrm>
            <a:prstGeom prst="rect">
              <a:avLst/>
            </a:prstGeom>
            <a:solidFill>
              <a:srgbClr val="3D7A3E"/>
            </a:solidFill>
            <a:ln w="12700">
              <a:solidFill>
                <a:srgbClr val="3D7A3E"/>
              </a:solidFill>
              <a:prstDash val="solid"/>
            </a:ln>
          </p:spPr>
        </p:sp>
        <p:sp>
          <p:nvSpPr>
            <p:cNvPr id="18" name="Text 23">
              <a:extLst>
                <a:ext uri="{FF2B5EF4-FFF2-40B4-BE49-F238E27FC236}">
                  <a16:creationId xmlns:a16="http://schemas.microsoft.com/office/drawing/2014/main" id="{B04DD1C7-21F4-326D-6DCC-07A62BDE0574}"/>
                </a:ext>
              </a:extLst>
            </p:cNvPr>
            <p:cNvSpPr/>
            <p:nvPr/>
          </p:nvSpPr>
          <p:spPr>
            <a:xfrm>
              <a:off x="4023360" y="2743200"/>
              <a:ext cx="150876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Precision</a:t>
              </a:r>
              <a:endParaRPr lang="en-US" dirty="0"/>
            </a:p>
          </p:txBody>
        </p:sp>
        <p:sp>
          <p:nvSpPr>
            <p:cNvPr id="19" name="Shape 24">
              <a:extLst>
                <a:ext uri="{FF2B5EF4-FFF2-40B4-BE49-F238E27FC236}">
                  <a16:creationId xmlns:a16="http://schemas.microsoft.com/office/drawing/2014/main" id="{D1138743-E604-55FD-71E9-7173FA77FA3A}"/>
                </a:ext>
              </a:extLst>
            </p:cNvPr>
            <p:cNvSpPr/>
            <p:nvPr/>
          </p:nvSpPr>
          <p:spPr>
            <a:xfrm>
              <a:off x="5577840" y="2743200"/>
              <a:ext cx="1508760" cy="347472"/>
            </a:xfrm>
            <a:prstGeom prst="rect">
              <a:avLst/>
            </a:prstGeom>
            <a:solidFill>
              <a:srgbClr val="3D7A3E"/>
            </a:solidFill>
            <a:ln w="12700">
              <a:solidFill>
                <a:srgbClr val="3D7A3E"/>
              </a:solidFill>
              <a:prstDash val="solid"/>
            </a:ln>
          </p:spPr>
        </p:sp>
        <p:sp>
          <p:nvSpPr>
            <p:cNvPr id="20" name="Text 25">
              <a:extLst>
                <a:ext uri="{FF2B5EF4-FFF2-40B4-BE49-F238E27FC236}">
                  <a16:creationId xmlns:a16="http://schemas.microsoft.com/office/drawing/2014/main" id="{11D48748-4A78-ECA2-2449-7C818222A00B}"/>
                </a:ext>
              </a:extLst>
            </p:cNvPr>
            <p:cNvSpPr/>
            <p:nvPr/>
          </p:nvSpPr>
          <p:spPr>
            <a:xfrm>
              <a:off x="5577840" y="2743200"/>
              <a:ext cx="150876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Recall</a:t>
              </a:r>
              <a:endParaRPr lang="en-US" dirty="0"/>
            </a:p>
          </p:txBody>
        </p:sp>
        <p:sp>
          <p:nvSpPr>
            <p:cNvPr id="21" name="Shape 26">
              <a:extLst>
                <a:ext uri="{FF2B5EF4-FFF2-40B4-BE49-F238E27FC236}">
                  <a16:creationId xmlns:a16="http://schemas.microsoft.com/office/drawing/2014/main" id="{6A6E8C4B-CA1D-42E7-DD92-FE18F540E602}"/>
                </a:ext>
              </a:extLst>
            </p:cNvPr>
            <p:cNvSpPr/>
            <p:nvPr/>
          </p:nvSpPr>
          <p:spPr>
            <a:xfrm>
              <a:off x="7132320" y="2743200"/>
              <a:ext cx="1691640" cy="347472"/>
            </a:xfrm>
            <a:prstGeom prst="rect">
              <a:avLst/>
            </a:prstGeom>
            <a:solidFill>
              <a:srgbClr val="3D7A3E"/>
            </a:solidFill>
            <a:ln w="12700">
              <a:solidFill>
                <a:srgbClr val="3D7A3E"/>
              </a:solidFill>
              <a:prstDash val="solid"/>
            </a:ln>
          </p:spPr>
        </p:sp>
        <p:sp>
          <p:nvSpPr>
            <p:cNvPr id="22" name="Text 27">
              <a:extLst>
                <a:ext uri="{FF2B5EF4-FFF2-40B4-BE49-F238E27FC236}">
                  <a16:creationId xmlns:a16="http://schemas.microsoft.com/office/drawing/2014/main" id="{5AB544C9-F74F-5CEB-7FCE-7EF0DF333497}"/>
                </a:ext>
              </a:extLst>
            </p:cNvPr>
            <p:cNvSpPr/>
            <p:nvPr/>
          </p:nvSpPr>
          <p:spPr>
            <a:xfrm>
              <a:off x="7132320" y="2743200"/>
              <a:ext cx="169164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F1-Score</a:t>
              </a:r>
              <a:endParaRPr lang="en-US" dirty="0"/>
            </a:p>
          </p:txBody>
        </p:sp>
        <p:sp>
          <p:nvSpPr>
            <p:cNvPr id="23" name="Shape 28">
              <a:extLst>
                <a:ext uri="{FF2B5EF4-FFF2-40B4-BE49-F238E27FC236}">
                  <a16:creationId xmlns:a16="http://schemas.microsoft.com/office/drawing/2014/main" id="{AC7FB536-8E9B-ED2E-CA42-A34494C10D66}"/>
                </a:ext>
              </a:extLst>
            </p:cNvPr>
            <p:cNvSpPr/>
            <p:nvPr/>
          </p:nvSpPr>
          <p:spPr>
            <a:xfrm>
              <a:off x="274320" y="3090672"/>
              <a:ext cx="2057400" cy="5303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8E6C9"/>
              </a:solidFill>
              <a:prstDash val="solid"/>
            </a:ln>
          </p:spPr>
        </p:sp>
        <p:sp>
          <p:nvSpPr>
            <p:cNvPr id="24" name="Text 29">
              <a:extLst>
                <a:ext uri="{FF2B5EF4-FFF2-40B4-BE49-F238E27FC236}">
                  <a16:creationId xmlns:a16="http://schemas.microsoft.com/office/drawing/2014/main" id="{55198B9C-5C8E-6FA9-972C-7FCF68005C70}"/>
                </a:ext>
              </a:extLst>
            </p:cNvPr>
            <p:cNvSpPr/>
            <p:nvPr/>
          </p:nvSpPr>
          <p:spPr>
            <a:xfrm>
              <a:off x="320040" y="3090672"/>
              <a:ext cx="196596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Naive Bayes</a:t>
              </a:r>
              <a:endParaRPr lang="en-US" sz="1400" dirty="0"/>
            </a:p>
          </p:txBody>
        </p:sp>
        <p:sp>
          <p:nvSpPr>
            <p:cNvPr id="25" name="Shape 30">
              <a:extLst>
                <a:ext uri="{FF2B5EF4-FFF2-40B4-BE49-F238E27FC236}">
                  <a16:creationId xmlns:a16="http://schemas.microsoft.com/office/drawing/2014/main" id="{848A56DA-BA06-5658-4CDE-22932BEA8EBF}"/>
                </a:ext>
              </a:extLst>
            </p:cNvPr>
            <p:cNvSpPr/>
            <p:nvPr/>
          </p:nvSpPr>
          <p:spPr>
            <a:xfrm>
              <a:off x="2377440" y="3090672"/>
              <a:ext cx="1600200" cy="5303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8E6C9"/>
              </a:solidFill>
              <a:prstDash val="solid"/>
            </a:ln>
          </p:spPr>
        </p:sp>
        <p:sp>
          <p:nvSpPr>
            <p:cNvPr id="26" name="Text 31">
              <a:extLst>
                <a:ext uri="{FF2B5EF4-FFF2-40B4-BE49-F238E27FC236}">
                  <a16:creationId xmlns:a16="http://schemas.microsoft.com/office/drawing/2014/main" id="{422ADBCF-0E6E-54ED-579C-7C7251211725}"/>
                </a:ext>
              </a:extLst>
            </p:cNvPr>
            <p:cNvSpPr/>
            <p:nvPr/>
          </p:nvSpPr>
          <p:spPr>
            <a:xfrm>
              <a:off x="2423160" y="3090672"/>
              <a:ext cx="150876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84.2%</a:t>
              </a:r>
              <a:endParaRPr lang="en-US" sz="1400" dirty="0"/>
            </a:p>
          </p:txBody>
        </p:sp>
        <p:sp>
          <p:nvSpPr>
            <p:cNvPr id="27" name="Shape 32">
              <a:extLst>
                <a:ext uri="{FF2B5EF4-FFF2-40B4-BE49-F238E27FC236}">
                  <a16:creationId xmlns:a16="http://schemas.microsoft.com/office/drawing/2014/main" id="{02559D07-A41E-CC4F-9ABC-BE4DCD4870E7}"/>
                </a:ext>
              </a:extLst>
            </p:cNvPr>
            <p:cNvSpPr/>
            <p:nvPr/>
          </p:nvSpPr>
          <p:spPr>
            <a:xfrm>
              <a:off x="4023360" y="3090672"/>
              <a:ext cx="1508760" cy="5303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8E6C9"/>
              </a:solidFill>
              <a:prstDash val="solid"/>
            </a:ln>
          </p:spPr>
        </p:sp>
        <p:sp>
          <p:nvSpPr>
            <p:cNvPr id="28" name="Text 33">
              <a:extLst>
                <a:ext uri="{FF2B5EF4-FFF2-40B4-BE49-F238E27FC236}">
                  <a16:creationId xmlns:a16="http://schemas.microsoft.com/office/drawing/2014/main" id="{3463E6BB-85A9-3943-3CA2-BC422EAC86C2}"/>
                </a:ext>
              </a:extLst>
            </p:cNvPr>
            <p:cNvSpPr/>
            <p:nvPr/>
          </p:nvSpPr>
          <p:spPr>
            <a:xfrm>
              <a:off x="4069080" y="3090672"/>
              <a:ext cx="141732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82.7%</a:t>
              </a:r>
              <a:endParaRPr lang="en-US" sz="1400" dirty="0"/>
            </a:p>
          </p:txBody>
        </p:sp>
        <p:sp>
          <p:nvSpPr>
            <p:cNvPr id="29" name="Shape 34">
              <a:extLst>
                <a:ext uri="{FF2B5EF4-FFF2-40B4-BE49-F238E27FC236}">
                  <a16:creationId xmlns:a16="http://schemas.microsoft.com/office/drawing/2014/main" id="{F299ACAD-9F30-0493-23B0-0A5F01FDD109}"/>
                </a:ext>
              </a:extLst>
            </p:cNvPr>
            <p:cNvSpPr/>
            <p:nvPr/>
          </p:nvSpPr>
          <p:spPr>
            <a:xfrm>
              <a:off x="5577840" y="3090672"/>
              <a:ext cx="1508760" cy="5303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8E6C9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0" name="Text 35">
              <a:extLst>
                <a:ext uri="{FF2B5EF4-FFF2-40B4-BE49-F238E27FC236}">
                  <a16:creationId xmlns:a16="http://schemas.microsoft.com/office/drawing/2014/main" id="{AB4CD32A-EA6E-5D5C-0085-4D5AB5E2421B}"/>
                </a:ext>
              </a:extLst>
            </p:cNvPr>
            <p:cNvSpPr/>
            <p:nvPr/>
          </p:nvSpPr>
          <p:spPr>
            <a:xfrm>
              <a:off x="5623560" y="3090672"/>
              <a:ext cx="141732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81.4%</a:t>
              </a:r>
              <a:endParaRPr lang="en-US" sz="1400" dirty="0"/>
            </a:p>
          </p:txBody>
        </p:sp>
        <p:sp>
          <p:nvSpPr>
            <p:cNvPr id="31" name="Shape 36">
              <a:extLst>
                <a:ext uri="{FF2B5EF4-FFF2-40B4-BE49-F238E27FC236}">
                  <a16:creationId xmlns:a16="http://schemas.microsoft.com/office/drawing/2014/main" id="{8385A0CC-155C-2810-AFDC-D9A817D24C03}"/>
                </a:ext>
              </a:extLst>
            </p:cNvPr>
            <p:cNvSpPr/>
            <p:nvPr/>
          </p:nvSpPr>
          <p:spPr>
            <a:xfrm>
              <a:off x="7132320" y="3090672"/>
              <a:ext cx="1691640" cy="5303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8E6C9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2" name="Text 37">
              <a:extLst>
                <a:ext uri="{FF2B5EF4-FFF2-40B4-BE49-F238E27FC236}">
                  <a16:creationId xmlns:a16="http://schemas.microsoft.com/office/drawing/2014/main" id="{B300286C-0D96-4511-D31B-82EB5246B7AA}"/>
                </a:ext>
              </a:extLst>
            </p:cNvPr>
            <p:cNvSpPr/>
            <p:nvPr/>
          </p:nvSpPr>
          <p:spPr>
            <a:xfrm>
              <a:off x="7178040" y="3090672"/>
              <a:ext cx="160020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82.0%</a:t>
              </a:r>
              <a:endParaRPr lang="en-US" sz="1400" dirty="0"/>
            </a:p>
          </p:txBody>
        </p:sp>
        <p:sp>
          <p:nvSpPr>
            <p:cNvPr id="33" name="Shape 38">
              <a:extLst>
                <a:ext uri="{FF2B5EF4-FFF2-40B4-BE49-F238E27FC236}">
                  <a16:creationId xmlns:a16="http://schemas.microsoft.com/office/drawing/2014/main" id="{C4A7D7C6-60D9-A57D-2AC5-877FA292A1EA}"/>
                </a:ext>
              </a:extLst>
            </p:cNvPr>
            <p:cNvSpPr/>
            <p:nvPr/>
          </p:nvSpPr>
          <p:spPr>
            <a:xfrm>
              <a:off x="274320" y="3639312"/>
              <a:ext cx="2057400" cy="5303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8E6C9"/>
              </a:solidFill>
              <a:prstDash val="solid"/>
            </a:ln>
          </p:spPr>
        </p:sp>
        <p:sp>
          <p:nvSpPr>
            <p:cNvPr id="34" name="Text 39">
              <a:extLst>
                <a:ext uri="{FF2B5EF4-FFF2-40B4-BE49-F238E27FC236}">
                  <a16:creationId xmlns:a16="http://schemas.microsoft.com/office/drawing/2014/main" id="{B76A98AD-EC00-5A94-6F08-D1AC21A56B56}"/>
                </a:ext>
              </a:extLst>
            </p:cNvPr>
            <p:cNvSpPr/>
            <p:nvPr/>
          </p:nvSpPr>
          <p:spPr>
            <a:xfrm>
              <a:off x="320040" y="3639312"/>
              <a:ext cx="196596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Logistic Regression</a:t>
              </a:r>
              <a:endParaRPr lang="en-US" sz="1400" dirty="0"/>
            </a:p>
          </p:txBody>
        </p:sp>
        <p:sp>
          <p:nvSpPr>
            <p:cNvPr id="35" name="Shape 40">
              <a:extLst>
                <a:ext uri="{FF2B5EF4-FFF2-40B4-BE49-F238E27FC236}">
                  <a16:creationId xmlns:a16="http://schemas.microsoft.com/office/drawing/2014/main" id="{31320396-AAB7-AFCF-8C1C-DD7347AB96E4}"/>
                </a:ext>
              </a:extLst>
            </p:cNvPr>
            <p:cNvSpPr/>
            <p:nvPr/>
          </p:nvSpPr>
          <p:spPr>
            <a:xfrm>
              <a:off x="2377440" y="3639312"/>
              <a:ext cx="1600200" cy="5303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8E6C9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6" name="Text 41">
              <a:extLst>
                <a:ext uri="{FF2B5EF4-FFF2-40B4-BE49-F238E27FC236}">
                  <a16:creationId xmlns:a16="http://schemas.microsoft.com/office/drawing/2014/main" id="{EEC32153-71B7-25FA-803B-7E89261AF4F7}"/>
                </a:ext>
              </a:extLst>
            </p:cNvPr>
            <p:cNvSpPr/>
            <p:nvPr/>
          </p:nvSpPr>
          <p:spPr>
            <a:xfrm>
              <a:off x="2423160" y="3639312"/>
              <a:ext cx="150876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88.6%</a:t>
              </a:r>
              <a:endParaRPr lang="en-US" sz="1400" dirty="0"/>
            </a:p>
          </p:txBody>
        </p:sp>
        <p:sp>
          <p:nvSpPr>
            <p:cNvPr id="37" name="Shape 42">
              <a:extLst>
                <a:ext uri="{FF2B5EF4-FFF2-40B4-BE49-F238E27FC236}">
                  <a16:creationId xmlns:a16="http://schemas.microsoft.com/office/drawing/2014/main" id="{D7B84BBC-3F5D-4610-C11A-F715C66F2206}"/>
                </a:ext>
              </a:extLst>
            </p:cNvPr>
            <p:cNvSpPr/>
            <p:nvPr/>
          </p:nvSpPr>
          <p:spPr>
            <a:xfrm>
              <a:off x="4023360" y="3639312"/>
              <a:ext cx="1508760" cy="5303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8E6C9"/>
              </a:solidFill>
              <a:prstDash val="solid"/>
            </a:ln>
          </p:spPr>
        </p:sp>
        <p:sp>
          <p:nvSpPr>
            <p:cNvPr id="38" name="Text 43">
              <a:extLst>
                <a:ext uri="{FF2B5EF4-FFF2-40B4-BE49-F238E27FC236}">
                  <a16:creationId xmlns:a16="http://schemas.microsoft.com/office/drawing/2014/main" id="{25F3F03E-AF12-67DD-1343-B359E00D6743}"/>
                </a:ext>
              </a:extLst>
            </p:cNvPr>
            <p:cNvSpPr/>
            <p:nvPr/>
          </p:nvSpPr>
          <p:spPr>
            <a:xfrm>
              <a:off x="4069080" y="3639312"/>
              <a:ext cx="141732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87.3%</a:t>
              </a:r>
              <a:endParaRPr lang="en-US" sz="1400" dirty="0"/>
            </a:p>
          </p:txBody>
        </p:sp>
        <p:sp>
          <p:nvSpPr>
            <p:cNvPr id="39" name="Shape 44">
              <a:extLst>
                <a:ext uri="{FF2B5EF4-FFF2-40B4-BE49-F238E27FC236}">
                  <a16:creationId xmlns:a16="http://schemas.microsoft.com/office/drawing/2014/main" id="{6EB7A7EB-BF90-56F8-B5CA-71FE2500E067}"/>
                </a:ext>
              </a:extLst>
            </p:cNvPr>
            <p:cNvSpPr/>
            <p:nvPr/>
          </p:nvSpPr>
          <p:spPr>
            <a:xfrm>
              <a:off x="5577840" y="3639312"/>
              <a:ext cx="1508760" cy="5303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8E6C9"/>
              </a:solidFill>
              <a:prstDash val="solid"/>
            </a:ln>
          </p:spPr>
        </p:sp>
        <p:sp>
          <p:nvSpPr>
            <p:cNvPr id="40" name="Text 45">
              <a:extLst>
                <a:ext uri="{FF2B5EF4-FFF2-40B4-BE49-F238E27FC236}">
                  <a16:creationId xmlns:a16="http://schemas.microsoft.com/office/drawing/2014/main" id="{40913323-B835-9D0B-DA3A-090B4FFAD673}"/>
                </a:ext>
              </a:extLst>
            </p:cNvPr>
            <p:cNvSpPr/>
            <p:nvPr/>
          </p:nvSpPr>
          <p:spPr>
            <a:xfrm>
              <a:off x="5623560" y="3639312"/>
              <a:ext cx="141732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86.1%</a:t>
              </a:r>
              <a:endParaRPr lang="en-US" sz="1400" dirty="0"/>
            </a:p>
          </p:txBody>
        </p:sp>
        <p:sp>
          <p:nvSpPr>
            <p:cNvPr id="41" name="Shape 46">
              <a:extLst>
                <a:ext uri="{FF2B5EF4-FFF2-40B4-BE49-F238E27FC236}">
                  <a16:creationId xmlns:a16="http://schemas.microsoft.com/office/drawing/2014/main" id="{F9B43006-4848-4028-A881-A201AD5091F8}"/>
                </a:ext>
              </a:extLst>
            </p:cNvPr>
            <p:cNvSpPr/>
            <p:nvPr/>
          </p:nvSpPr>
          <p:spPr>
            <a:xfrm>
              <a:off x="7132320" y="3639312"/>
              <a:ext cx="1691640" cy="5303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8E6C9"/>
              </a:solidFill>
              <a:prstDash val="solid"/>
            </a:ln>
          </p:spPr>
        </p:sp>
        <p:sp>
          <p:nvSpPr>
            <p:cNvPr id="42" name="Text 47">
              <a:extLst>
                <a:ext uri="{FF2B5EF4-FFF2-40B4-BE49-F238E27FC236}">
                  <a16:creationId xmlns:a16="http://schemas.microsoft.com/office/drawing/2014/main" id="{80935A88-D7FC-12EF-2489-1E6D92AF4B67}"/>
                </a:ext>
              </a:extLst>
            </p:cNvPr>
            <p:cNvSpPr/>
            <p:nvPr/>
          </p:nvSpPr>
          <p:spPr>
            <a:xfrm>
              <a:off x="7178040" y="3639312"/>
              <a:ext cx="160020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86.7%</a:t>
              </a:r>
              <a:endParaRPr lang="en-US" sz="1400" dirty="0"/>
            </a:p>
          </p:txBody>
        </p:sp>
        <p:sp>
          <p:nvSpPr>
            <p:cNvPr id="43" name="Shape 48">
              <a:extLst>
                <a:ext uri="{FF2B5EF4-FFF2-40B4-BE49-F238E27FC236}">
                  <a16:creationId xmlns:a16="http://schemas.microsoft.com/office/drawing/2014/main" id="{6CF60A26-F236-AE1E-F07D-86FC66184481}"/>
                </a:ext>
              </a:extLst>
            </p:cNvPr>
            <p:cNvSpPr/>
            <p:nvPr/>
          </p:nvSpPr>
          <p:spPr>
            <a:xfrm>
              <a:off x="274320" y="4187952"/>
              <a:ext cx="2057400" cy="530352"/>
            </a:xfrm>
            <a:prstGeom prst="rect">
              <a:avLst/>
            </a:prstGeom>
            <a:solidFill>
              <a:srgbClr val="E8F5E9"/>
            </a:solidFill>
            <a:ln w="6350">
              <a:solidFill>
                <a:srgbClr val="C8E6C9"/>
              </a:solidFill>
              <a:prstDash val="solid"/>
            </a:ln>
          </p:spPr>
        </p:sp>
        <p:sp>
          <p:nvSpPr>
            <p:cNvPr id="44" name="Text 49">
              <a:extLst>
                <a:ext uri="{FF2B5EF4-FFF2-40B4-BE49-F238E27FC236}">
                  <a16:creationId xmlns:a16="http://schemas.microsoft.com/office/drawing/2014/main" id="{417659AF-0D0E-DBE3-4153-64F927A8AE77}"/>
                </a:ext>
              </a:extLst>
            </p:cNvPr>
            <p:cNvSpPr/>
            <p:nvPr/>
          </p:nvSpPr>
          <p:spPr>
            <a:xfrm>
              <a:off x="320040" y="4187952"/>
              <a:ext cx="196596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C5F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Random Forest ✓</a:t>
              </a:r>
              <a:endParaRPr lang="en-US" sz="1400" dirty="0"/>
            </a:p>
          </p:txBody>
        </p:sp>
        <p:sp>
          <p:nvSpPr>
            <p:cNvPr id="45" name="Shape 50">
              <a:extLst>
                <a:ext uri="{FF2B5EF4-FFF2-40B4-BE49-F238E27FC236}">
                  <a16:creationId xmlns:a16="http://schemas.microsoft.com/office/drawing/2014/main" id="{6486C9BE-8C73-9469-CB54-BA6B799DAF4E}"/>
                </a:ext>
              </a:extLst>
            </p:cNvPr>
            <p:cNvSpPr/>
            <p:nvPr/>
          </p:nvSpPr>
          <p:spPr>
            <a:xfrm>
              <a:off x="2377440" y="4187952"/>
              <a:ext cx="1600200" cy="530352"/>
            </a:xfrm>
            <a:prstGeom prst="rect">
              <a:avLst/>
            </a:prstGeom>
            <a:solidFill>
              <a:srgbClr val="E8F5E9"/>
            </a:solidFill>
            <a:ln w="6350">
              <a:solidFill>
                <a:srgbClr val="C8E6C9"/>
              </a:solidFill>
              <a:prstDash val="solid"/>
            </a:ln>
          </p:spPr>
        </p:sp>
        <p:sp>
          <p:nvSpPr>
            <p:cNvPr id="46" name="Text 51">
              <a:extLst>
                <a:ext uri="{FF2B5EF4-FFF2-40B4-BE49-F238E27FC236}">
                  <a16:creationId xmlns:a16="http://schemas.microsoft.com/office/drawing/2014/main" id="{7AB6E43E-6E25-3B50-C7F5-00A7CB7549C6}"/>
                </a:ext>
              </a:extLst>
            </p:cNvPr>
            <p:cNvSpPr/>
            <p:nvPr/>
          </p:nvSpPr>
          <p:spPr>
            <a:xfrm>
              <a:off x="2423160" y="4187952"/>
              <a:ext cx="150876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C5F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93.4%</a:t>
              </a:r>
              <a:endParaRPr lang="en-US" sz="1400" dirty="0"/>
            </a:p>
          </p:txBody>
        </p:sp>
        <p:sp>
          <p:nvSpPr>
            <p:cNvPr id="47" name="Shape 52">
              <a:extLst>
                <a:ext uri="{FF2B5EF4-FFF2-40B4-BE49-F238E27FC236}">
                  <a16:creationId xmlns:a16="http://schemas.microsoft.com/office/drawing/2014/main" id="{73EDF8EE-7D35-28C8-BB49-E299AC4B7605}"/>
                </a:ext>
              </a:extLst>
            </p:cNvPr>
            <p:cNvSpPr/>
            <p:nvPr/>
          </p:nvSpPr>
          <p:spPr>
            <a:xfrm>
              <a:off x="4023360" y="4187952"/>
              <a:ext cx="1508760" cy="530352"/>
            </a:xfrm>
            <a:prstGeom prst="rect">
              <a:avLst/>
            </a:prstGeom>
            <a:solidFill>
              <a:srgbClr val="E8F5E9"/>
            </a:solidFill>
            <a:ln w="6350">
              <a:solidFill>
                <a:srgbClr val="C8E6C9"/>
              </a:solidFill>
              <a:prstDash val="solid"/>
            </a:ln>
          </p:spPr>
        </p:sp>
        <p:sp>
          <p:nvSpPr>
            <p:cNvPr id="48" name="Text 53">
              <a:extLst>
                <a:ext uri="{FF2B5EF4-FFF2-40B4-BE49-F238E27FC236}">
                  <a16:creationId xmlns:a16="http://schemas.microsoft.com/office/drawing/2014/main" id="{3D91E2BF-8A8A-01EB-25AE-790CC2FB95FB}"/>
                </a:ext>
              </a:extLst>
            </p:cNvPr>
            <p:cNvSpPr/>
            <p:nvPr/>
          </p:nvSpPr>
          <p:spPr>
            <a:xfrm>
              <a:off x="4069080" y="4187952"/>
              <a:ext cx="141732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C5F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92.1%</a:t>
              </a:r>
              <a:endParaRPr lang="en-US" sz="1400" dirty="0"/>
            </a:p>
          </p:txBody>
        </p:sp>
        <p:sp>
          <p:nvSpPr>
            <p:cNvPr id="49" name="Shape 54">
              <a:extLst>
                <a:ext uri="{FF2B5EF4-FFF2-40B4-BE49-F238E27FC236}">
                  <a16:creationId xmlns:a16="http://schemas.microsoft.com/office/drawing/2014/main" id="{C0B6B523-376D-0877-4ECC-5B48E4EB5235}"/>
                </a:ext>
              </a:extLst>
            </p:cNvPr>
            <p:cNvSpPr/>
            <p:nvPr/>
          </p:nvSpPr>
          <p:spPr>
            <a:xfrm>
              <a:off x="5577840" y="4187952"/>
              <a:ext cx="1508760" cy="530352"/>
            </a:xfrm>
            <a:prstGeom prst="rect">
              <a:avLst/>
            </a:prstGeom>
            <a:solidFill>
              <a:srgbClr val="E8F5E9"/>
            </a:solidFill>
            <a:ln w="6350">
              <a:solidFill>
                <a:srgbClr val="C8E6C9"/>
              </a:solidFill>
              <a:prstDash val="solid"/>
            </a:ln>
          </p:spPr>
        </p:sp>
        <p:sp>
          <p:nvSpPr>
            <p:cNvPr id="50" name="Text 55">
              <a:extLst>
                <a:ext uri="{FF2B5EF4-FFF2-40B4-BE49-F238E27FC236}">
                  <a16:creationId xmlns:a16="http://schemas.microsoft.com/office/drawing/2014/main" id="{17412B74-7D47-E452-2C0A-903BB3CCB886}"/>
                </a:ext>
              </a:extLst>
            </p:cNvPr>
            <p:cNvSpPr/>
            <p:nvPr/>
          </p:nvSpPr>
          <p:spPr>
            <a:xfrm>
              <a:off x="5623560" y="4187952"/>
              <a:ext cx="141732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C5F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91.8%</a:t>
              </a:r>
              <a:endParaRPr lang="en-US" sz="1400" dirty="0"/>
            </a:p>
          </p:txBody>
        </p:sp>
        <p:sp>
          <p:nvSpPr>
            <p:cNvPr id="51" name="Shape 56">
              <a:extLst>
                <a:ext uri="{FF2B5EF4-FFF2-40B4-BE49-F238E27FC236}">
                  <a16:creationId xmlns:a16="http://schemas.microsoft.com/office/drawing/2014/main" id="{A4A89239-11E0-EB6D-D5D4-598C14A8D11E}"/>
                </a:ext>
              </a:extLst>
            </p:cNvPr>
            <p:cNvSpPr/>
            <p:nvPr/>
          </p:nvSpPr>
          <p:spPr>
            <a:xfrm>
              <a:off x="7132320" y="4187952"/>
              <a:ext cx="1691640" cy="530352"/>
            </a:xfrm>
            <a:prstGeom prst="rect">
              <a:avLst/>
            </a:prstGeom>
            <a:solidFill>
              <a:srgbClr val="E8F5E9"/>
            </a:solidFill>
            <a:ln w="6350">
              <a:solidFill>
                <a:srgbClr val="C8E6C9"/>
              </a:solidFill>
              <a:prstDash val="solid"/>
            </a:ln>
          </p:spPr>
        </p:sp>
        <p:sp>
          <p:nvSpPr>
            <p:cNvPr id="52" name="Text 57">
              <a:extLst>
                <a:ext uri="{FF2B5EF4-FFF2-40B4-BE49-F238E27FC236}">
                  <a16:creationId xmlns:a16="http://schemas.microsoft.com/office/drawing/2014/main" id="{2B6713CB-718D-8AFB-52E5-AF62D9A206D7}"/>
                </a:ext>
              </a:extLst>
            </p:cNvPr>
            <p:cNvSpPr/>
            <p:nvPr/>
          </p:nvSpPr>
          <p:spPr>
            <a:xfrm>
              <a:off x="7178040" y="4187952"/>
              <a:ext cx="160020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C5F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91.9%</a:t>
              </a:r>
              <a:endParaRPr lang="en-US" sz="1400" dirty="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C250EDD-EE93-C42B-6AE1-3DCFEDE23FB5}"/>
              </a:ext>
            </a:extLst>
          </p:cNvPr>
          <p:cNvGrpSpPr/>
          <p:nvPr/>
        </p:nvGrpSpPr>
        <p:grpSpPr>
          <a:xfrm>
            <a:off x="1848612" y="1419586"/>
            <a:ext cx="8494776" cy="1463040"/>
            <a:chOff x="274320" y="1097280"/>
            <a:chExt cx="8494776" cy="1463040"/>
          </a:xfrm>
        </p:grpSpPr>
        <p:sp>
          <p:nvSpPr>
            <p:cNvPr id="55" name="Shape 2">
              <a:extLst>
                <a:ext uri="{FF2B5EF4-FFF2-40B4-BE49-F238E27FC236}">
                  <a16:creationId xmlns:a16="http://schemas.microsoft.com/office/drawing/2014/main" id="{401CD30A-136B-A5AC-9028-D184C626B384}"/>
                </a:ext>
              </a:extLst>
            </p:cNvPr>
            <p:cNvSpPr/>
            <p:nvPr/>
          </p:nvSpPr>
          <p:spPr>
            <a:xfrm>
              <a:off x="274320" y="1097280"/>
              <a:ext cx="1965960" cy="146304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2700">
              <a:solidFill>
                <a:srgbClr val="C8E6C9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56" name="Text 3">
              <a:extLst>
                <a:ext uri="{FF2B5EF4-FFF2-40B4-BE49-F238E27FC236}">
                  <a16:creationId xmlns:a16="http://schemas.microsoft.com/office/drawing/2014/main" id="{FF864AAA-09E9-DA8B-52B6-765F223219DE}"/>
                </a:ext>
              </a:extLst>
            </p:cNvPr>
            <p:cNvSpPr/>
            <p:nvPr/>
          </p:nvSpPr>
          <p:spPr>
            <a:xfrm>
              <a:off x="274320" y="1188720"/>
              <a:ext cx="196596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2C5F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93.4%</a:t>
              </a:r>
              <a:endParaRPr lang="en-US" sz="2800" dirty="0"/>
            </a:p>
          </p:txBody>
        </p:sp>
        <p:sp>
          <p:nvSpPr>
            <p:cNvPr id="57" name="Text 4">
              <a:extLst>
                <a:ext uri="{FF2B5EF4-FFF2-40B4-BE49-F238E27FC236}">
                  <a16:creationId xmlns:a16="http://schemas.microsoft.com/office/drawing/2014/main" id="{B3152EB2-2FDF-ADC1-01CB-57D2FD1ED05E}"/>
                </a:ext>
              </a:extLst>
            </p:cNvPr>
            <p:cNvSpPr/>
            <p:nvPr/>
          </p:nvSpPr>
          <p:spPr>
            <a:xfrm>
              <a:off x="274320" y="1810512"/>
              <a:ext cx="19659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3D7A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Accuracy</a:t>
              </a:r>
              <a:endParaRPr lang="en-US" dirty="0"/>
            </a:p>
          </p:txBody>
        </p:sp>
        <p:sp>
          <p:nvSpPr>
            <p:cNvPr id="58" name="Text 5">
              <a:extLst>
                <a:ext uri="{FF2B5EF4-FFF2-40B4-BE49-F238E27FC236}">
                  <a16:creationId xmlns:a16="http://schemas.microsoft.com/office/drawing/2014/main" id="{2741B66D-D280-817E-F55A-FCB3F06EF93B}"/>
                </a:ext>
              </a:extLst>
            </p:cNvPr>
            <p:cNvSpPr/>
            <p:nvPr/>
          </p:nvSpPr>
          <p:spPr>
            <a:xfrm>
              <a:off x="274320" y="2084832"/>
              <a:ext cx="196596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Random Forest</a:t>
              </a:r>
              <a:endParaRPr lang="en-US" sz="1200" dirty="0"/>
            </a:p>
          </p:txBody>
        </p:sp>
        <p:sp>
          <p:nvSpPr>
            <p:cNvPr id="59" name="Shape 6">
              <a:extLst>
                <a:ext uri="{FF2B5EF4-FFF2-40B4-BE49-F238E27FC236}">
                  <a16:creationId xmlns:a16="http://schemas.microsoft.com/office/drawing/2014/main" id="{75043DAA-C575-DC40-2FFD-2460BF4F68BD}"/>
                </a:ext>
              </a:extLst>
            </p:cNvPr>
            <p:cNvSpPr/>
            <p:nvPr/>
          </p:nvSpPr>
          <p:spPr>
            <a:xfrm>
              <a:off x="2450592" y="1097280"/>
              <a:ext cx="1965960" cy="146304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2700">
              <a:solidFill>
                <a:srgbClr val="C8E6C9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60" name="Text 7">
              <a:extLst>
                <a:ext uri="{FF2B5EF4-FFF2-40B4-BE49-F238E27FC236}">
                  <a16:creationId xmlns:a16="http://schemas.microsoft.com/office/drawing/2014/main" id="{7B2D0E8C-F1F6-4BF6-EA4F-508E5CC6D943}"/>
                </a:ext>
              </a:extLst>
            </p:cNvPr>
            <p:cNvSpPr/>
            <p:nvPr/>
          </p:nvSpPr>
          <p:spPr>
            <a:xfrm>
              <a:off x="2450592" y="1188720"/>
              <a:ext cx="196596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2C5F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1.2s</a:t>
              </a:r>
              <a:endParaRPr lang="en-US" sz="2800" dirty="0"/>
            </a:p>
          </p:txBody>
        </p:sp>
        <p:sp>
          <p:nvSpPr>
            <p:cNvPr id="61" name="Text 8">
              <a:extLst>
                <a:ext uri="{FF2B5EF4-FFF2-40B4-BE49-F238E27FC236}">
                  <a16:creationId xmlns:a16="http://schemas.microsoft.com/office/drawing/2014/main" id="{57B03C87-F429-50AA-21A6-62C04228B6DB}"/>
                </a:ext>
              </a:extLst>
            </p:cNvPr>
            <p:cNvSpPr/>
            <p:nvPr/>
          </p:nvSpPr>
          <p:spPr>
            <a:xfrm>
              <a:off x="2450592" y="1810512"/>
              <a:ext cx="19659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3D7A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Avg Response</a:t>
              </a:r>
              <a:endParaRPr lang="en-US" dirty="0"/>
            </a:p>
          </p:txBody>
        </p:sp>
        <p:sp>
          <p:nvSpPr>
            <p:cNvPr id="62" name="Text 9">
              <a:extLst>
                <a:ext uri="{FF2B5EF4-FFF2-40B4-BE49-F238E27FC236}">
                  <a16:creationId xmlns:a16="http://schemas.microsoft.com/office/drawing/2014/main" id="{8F1E59FF-D9FB-D233-DB8F-479475150761}"/>
                </a:ext>
              </a:extLst>
            </p:cNvPr>
            <p:cNvSpPr/>
            <p:nvPr/>
          </p:nvSpPr>
          <p:spPr>
            <a:xfrm>
              <a:off x="2450592" y="2084832"/>
              <a:ext cx="196596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Symptom only</a:t>
              </a:r>
              <a:endParaRPr lang="en-US" sz="1200" dirty="0"/>
            </a:p>
          </p:txBody>
        </p:sp>
        <p:sp>
          <p:nvSpPr>
            <p:cNvPr id="63" name="Shape 10">
              <a:extLst>
                <a:ext uri="{FF2B5EF4-FFF2-40B4-BE49-F238E27FC236}">
                  <a16:creationId xmlns:a16="http://schemas.microsoft.com/office/drawing/2014/main" id="{7E1C9414-4100-07CB-06FA-87DB22F71517}"/>
                </a:ext>
              </a:extLst>
            </p:cNvPr>
            <p:cNvSpPr/>
            <p:nvPr/>
          </p:nvSpPr>
          <p:spPr>
            <a:xfrm>
              <a:off x="4626864" y="1097280"/>
              <a:ext cx="1965960" cy="146304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2700">
              <a:solidFill>
                <a:srgbClr val="C8E6C9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64" name="Text 11">
              <a:extLst>
                <a:ext uri="{FF2B5EF4-FFF2-40B4-BE49-F238E27FC236}">
                  <a16:creationId xmlns:a16="http://schemas.microsoft.com/office/drawing/2014/main" id="{9AAB14B7-6F4C-D0FD-273D-D6D8B8FC8E3A}"/>
                </a:ext>
              </a:extLst>
            </p:cNvPr>
            <p:cNvSpPr/>
            <p:nvPr/>
          </p:nvSpPr>
          <p:spPr>
            <a:xfrm>
              <a:off x="4626864" y="1188720"/>
              <a:ext cx="196596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2C5F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15</a:t>
              </a:r>
              <a:endParaRPr lang="en-US" sz="2800" dirty="0"/>
            </a:p>
          </p:txBody>
        </p:sp>
        <p:sp>
          <p:nvSpPr>
            <p:cNvPr id="65" name="Text 12">
              <a:extLst>
                <a:ext uri="{FF2B5EF4-FFF2-40B4-BE49-F238E27FC236}">
                  <a16:creationId xmlns:a16="http://schemas.microsoft.com/office/drawing/2014/main" id="{19972FFF-1DD3-8069-CA48-E7602EBC614C}"/>
                </a:ext>
              </a:extLst>
            </p:cNvPr>
            <p:cNvSpPr/>
            <p:nvPr/>
          </p:nvSpPr>
          <p:spPr>
            <a:xfrm>
              <a:off x="4626864" y="1810512"/>
              <a:ext cx="19659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3D7A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Diseases</a:t>
              </a:r>
              <a:endParaRPr lang="en-US" dirty="0"/>
            </a:p>
          </p:txBody>
        </p:sp>
        <p:sp>
          <p:nvSpPr>
            <p:cNvPr id="66" name="Text 13">
              <a:extLst>
                <a:ext uri="{FF2B5EF4-FFF2-40B4-BE49-F238E27FC236}">
                  <a16:creationId xmlns:a16="http://schemas.microsoft.com/office/drawing/2014/main" id="{7795CD41-5024-AAB2-8159-195CBEE05077}"/>
                </a:ext>
              </a:extLst>
            </p:cNvPr>
            <p:cNvSpPr/>
            <p:nvPr/>
          </p:nvSpPr>
          <p:spPr>
            <a:xfrm>
              <a:off x="4626864" y="2084832"/>
              <a:ext cx="196596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 Crop categories</a:t>
              </a:r>
              <a:endParaRPr lang="en-US" sz="1200" dirty="0"/>
            </a:p>
          </p:txBody>
        </p:sp>
        <p:sp>
          <p:nvSpPr>
            <p:cNvPr id="67" name="Shape 14">
              <a:extLst>
                <a:ext uri="{FF2B5EF4-FFF2-40B4-BE49-F238E27FC236}">
                  <a16:creationId xmlns:a16="http://schemas.microsoft.com/office/drawing/2014/main" id="{9C284F45-3DB6-2083-2C3E-E82DE292CBBA}"/>
                </a:ext>
              </a:extLst>
            </p:cNvPr>
            <p:cNvSpPr/>
            <p:nvPr/>
          </p:nvSpPr>
          <p:spPr>
            <a:xfrm>
              <a:off x="6803136" y="1097280"/>
              <a:ext cx="1965960" cy="146304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2700">
              <a:solidFill>
                <a:srgbClr val="C8E6C9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68" name="Text 15">
              <a:extLst>
                <a:ext uri="{FF2B5EF4-FFF2-40B4-BE49-F238E27FC236}">
                  <a16:creationId xmlns:a16="http://schemas.microsoft.com/office/drawing/2014/main" id="{239DD733-3862-5049-BE64-8345E4C79BDA}"/>
                </a:ext>
              </a:extLst>
            </p:cNvPr>
            <p:cNvSpPr/>
            <p:nvPr/>
          </p:nvSpPr>
          <p:spPr>
            <a:xfrm>
              <a:off x="6803136" y="1188720"/>
              <a:ext cx="196596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2C5F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4,460</a:t>
              </a:r>
              <a:endParaRPr lang="en-US" sz="2800" dirty="0"/>
            </a:p>
          </p:txBody>
        </p:sp>
        <p:sp>
          <p:nvSpPr>
            <p:cNvPr id="69" name="Text 16">
              <a:extLst>
                <a:ext uri="{FF2B5EF4-FFF2-40B4-BE49-F238E27FC236}">
                  <a16:creationId xmlns:a16="http://schemas.microsoft.com/office/drawing/2014/main" id="{25EFB227-71CC-3121-B1B2-912E4483C56B}"/>
                </a:ext>
              </a:extLst>
            </p:cNvPr>
            <p:cNvSpPr/>
            <p:nvPr/>
          </p:nvSpPr>
          <p:spPr>
            <a:xfrm>
              <a:off x="6803136" y="1810512"/>
              <a:ext cx="19659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3D7A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Records</a:t>
              </a:r>
              <a:endParaRPr lang="en-US" dirty="0"/>
            </a:p>
          </p:txBody>
        </p:sp>
        <p:sp>
          <p:nvSpPr>
            <p:cNvPr id="70" name="Text 17">
              <a:extLst>
                <a:ext uri="{FF2B5EF4-FFF2-40B4-BE49-F238E27FC236}">
                  <a16:creationId xmlns:a16="http://schemas.microsoft.com/office/drawing/2014/main" id="{841DCD35-945C-0ADC-83AB-B1FE8268BB22}"/>
                </a:ext>
              </a:extLst>
            </p:cNvPr>
            <p:cNvSpPr/>
            <p:nvPr/>
          </p:nvSpPr>
          <p:spPr>
            <a:xfrm>
              <a:off x="6803136" y="2084832"/>
              <a:ext cx="196596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Training dataset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61340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19910-9516-3387-AD2A-983997ABA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623" y="624110"/>
            <a:ext cx="8911687" cy="1280890"/>
          </a:xfrm>
        </p:spPr>
        <p:txBody>
          <a:bodyPr/>
          <a:lstStyle/>
          <a:p>
            <a:r>
              <a:rPr lang="en-US" dirty="0"/>
              <a:t>7.1 Comparison with Existing Systems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6C0F2-30AC-8F88-2CD2-AF8518382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12</a:t>
            </a:fld>
            <a:endParaRPr lang="en-IN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FBA0298-FD7A-C111-373F-DAB4B56038A1}"/>
              </a:ext>
            </a:extLst>
          </p:cNvPr>
          <p:cNvGrpSpPr/>
          <p:nvPr/>
        </p:nvGrpSpPr>
        <p:grpSpPr>
          <a:xfrm>
            <a:off x="813275" y="2234785"/>
            <a:ext cx="10798637" cy="3091194"/>
            <a:chOff x="274320" y="4041648"/>
            <a:chExt cx="8458200" cy="1033272"/>
          </a:xfrm>
        </p:grpSpPr>
        <p:sp>
          <p:nvSpPr>
            <p:cNvPr id="6" name="Shape 7">
              <a:extLst>
                <a:ext uri="{FF2B5EF4-FFF2-40B4-BE49-F238E27FC236}">
                  <a16:creationId xmlns:a16="http://schemas.microsoft.com/office/drawing/2014/main" id="{2D6230D3-48B4-238D-55F6-243AE3A3F762}"/>
                </a:ext>
              </a:extLst>
            </p:cNvPr>
            <p:cNvSpPr/>
            <p:nvPr/>
          </p:nvSpPr>
          <p:spPr>
            <a:xfrm>
              <a:off x="274320" y="4041648"/>
              <a:ext cx="1965960" cy="274320"/>
            </a:xfrm>
            <a:prstGeom prst="rect">
              <a:avLst/>
            </a:prstGeom>
            <a:solidFill>
              <a:srgbClr val="3D7A3E"/>
            </a:solidFill>
            <a:ln w="12700">
              <a:solidFill>
                <a:srgbClr val="3D7A3E"/>
              </a:solidFill>
              <a:prstDash val="solid"/>
            </a:ln>
          </p:spPr>
        </p:sp>
        <p:sp>
          <p:nvSpPr>
            <p:cNvPr id="7" name="Text 8">
              <a:extLst>
                <a:ext uri="{FF2B5EF4-FFF2-40B4-BE49-F238E27FC236}">
                  <a16:creationId xmlns:a16="http://schemas.microsoft.com/office/drawing/2014/main" id="{75AEC3C1-4881-A530-75A3-03B31BE2E995}"/>
                </a:ext>
              </a:extLst>
            </p:cNvPr>
            <p:cNvSpPr/>
            <p:nvPr/>
          </p:nvSpPr>
          <p:spPr>
            <a:xfrm>
              <a:off x="274320" y="4041648"/>
              <a:ext cx="19659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Feature</a:t>
              </a:r>
              <a:endParaRPr lang="en-US" sz="2400" dirty="0"/>
            </a:p>
          </p:txBody>
        </p:sp>
        <p:sp>
          <p:nvSpPr>
            <p:cNvPr id="8" name="Shape 9">
              <a:extLst>
                <a:ext uri="{FF2B5EF4-FFF2-40B4-BE49-F238E27FC236}">
                  <a16:creationId xmlns:a16="http://schemas.microsoft.com/office/drawing/2014/main" id="{0CF6E3C9-A126-5662-6D0E-CAA3CC4D9A9C}"/>
                </a:ext>
              </a:extLst>
            </p:cNvPr>
            <p:cNvSpPr/>
            <p:nvPr/>
          </p:nvSpPr>
          <p:spPr>
            <a:xfrm>
              <a:off x="2286000" y="4041648"/>
              <a:ext cx="1508760" cy="274320"/>
            </a:xfrm>
            <a:prstGeom prst="rect">
              <a:avLst/>
            </a:prstGeom>
            <a:solidFill>
              <a:srgbClr val="3D7A3E"/>
            </a:solidFill>
            <a:ln w="12700">
              <a:solidFill>
                <a:srgbClr val="3D7A3E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9" name="Text 10">
              <a:extLst>
                <a:ext uri="{FF2B5EF4-FFF2-40B4-BE49-F238E27FC236}">
                  <a16:creationId xmlns:a16="http://schemas.microsoft.com/office/drawing/2014/main" id="{10BBA8BD-70C6-5F8A-736C-A18338CCBC79}"/>
                </a:ext>
              </a:extLst>
            </p:cNvPr>
            <p:cNvSpPr/>
            <p:nvPr/>
          </p:nvSpPr>
          <p:spPr>
            <a:xfrm>
              <a:off x="2286000" y="4041648"/>
              <a:ext cx="15087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Plantix</a:t>
              </a:r>
              <a:endParaRPr lang="en-US" sz="2400" dirty="0"/>
            </a:p>
          </p:txBody>
        </p:sp>
        <p:sp>
          <p:nvSpPr>
            <p:cNvPr id="10" name="Shape 11">
              <a:extLst>
                <a:ext uri="{FF2B5EF4-FFF2-40B4-BE49-F238E27FC236}">
                  <a16:creationId xmlns:a16="http://schemas.microsoft.com/office/drawing/2014/main" id="{98750474-7E3F-2B3D-5768-762E0C37E64B}"/>
                </a:ext>
              </a:extLst>
            </p:cNvPr>
            <p:cNvSpPr/>
            <p:nvPr/>
          </p:nvSpPr>
          <p:spPr>
            <a:xfrm>
              <a:off x="3840480" y="4041649"/>
              <a:ext cx="1508760" cy="274320"/>
            </a:xfrm>
            <a:prstGeom prst="rect">
              <a:avLst/>
            </a:prstGeom>
            <a:solidFill>
              <a:srgbClr val="3D7A3E"/>
            </a:solidFill>
            <a:ln w="12700">
              <a:solidFill>
                <a:srgbClr val="3D7A3E"/>
              </a:solidFill>
              <a:prstDash val="solid"/>
            </a:ln>
          </p:spPr>
        </p:sp>
        <p:sp>
          <p:nvSpPr>
            <p:cNvPr id="11" name="Text 12">
              <a:extLst>
                <a:ext uri="{FF2B5EF4-FFF2-40B4-BE49-F238E27FC236}">
                  <a16:creationId xmlns:a16="http://schemas.microsoft.com/office/drawing/2014/main" id="{BA227EAD-4DC3-446C-5C17-81AC3A52969B}"/>
                </a:ext>
              </a:extLst>
            </p:cNvPr>
            <p:cNvSpPr/>
            <p:nvPr/>
          </p:nvSpPr>
          <p:spPr>
            <a:xfrm>
              <a:off x="3840480" y="4041648"/>
              <a:ext cx="15087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Leaf Doctor</a:t>
              </a:r>
              <a:endParaRPr lang="en-US" sz="2400" dirty="0"/>
            </a:p>
          </p:txBody>
        </p:sp>
        <p:sp>
          <p:nvSpPr>
            <p:cNvPr id="12" name="Shape 13">
              <a:extLst>
                <a:ext uri="{FF2B5EF4-FFF2-40B4-BE49-F238E27FC236}">
                  <a16:creationId xmlns:a16="http://schemas.microsoft.com/office/drawing/2014/main" id="{D39E4F76-892E-EF59-EF13-C0E6428474FC}"/>
                </a:ext>
              </a:extLst>
            </p:cNvPr>
            <p:cNvSpPr/>
            <p:nvPr/>
          </p:nvSpPr>
          <p:spPr>
            <a:xfrm>
              <a:off x="5394960" y="4041648"/>
              <a:ext cx="1508760" cy="274320"/>
            </a:xfrm>
            <a:prstGeom prst="rect">
              <a:avLst/>
            </a:prstGeom>
            <a:solidFill>
              <a:srgbClr val="3D7A3E"/>
            </a:solidFill>
            <a:ln w="12700">
              <a:solidFill>
                <a:srgbClr val="3D7A3E"/>
              </a:solidFill>
              <a:prstDash val="solid"/>
            </a:ln>
          </p:spPr>
        </p:sp>
        <p:sp>
          <p:nvSpPr>
            <p:cNvPr id="13" name="Text 14">
              <a:extLst>
                <a:ext uri="{FF2B5EF4-FFF2-40B4-BE49-F238E27FC236}">
                  <a16:creationId xmlns:a16="http://schemas.microsoft.com/office/drawing/2014/main" id="{017690FF-647B-B576-74C8-CE6C7202C268}"/>
                </a:ext>
              </a:extLst>
            </p:cNvPr>
            <p:cNvSpPr/>
            <p:nvPr/>
          </p:nvSpPr>
          <p:spPr>
            <a:xfrm>
              <a:off x="5394960" y="4041648"/>
              <a:ext cx="15087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AgroAI</a:t>
              </a:r>
              <a:endParaRPr lang="en-US" sz="2400" dirty="0"/>
            </a:p>
          </p:txBody>
        </p:sp>
        <p:sp>
          <p:nvSpPr>
            <p:cNvPr id="14" name="Shape 15">
              <a:extLst>
                <a:ext uri="{FF2B5EF4-FFF2-40B4-BE49-F238E27FC236}">
                  <a16:creationId xmlns:a16="http://schemas.microsoft.com/office/drawing/2014/main" id="{9ED124EF-8DDF-7984-F95B-3752866BE704}"/>
                </a:ext>
              </a:extLst>
            </p:cNvPr>
            <p:cNvSpPr/>
            <p:nvPr/>
          </p:nvSpPr>
          <p:spPr>
            <a:xfrm>
              <a:off x="6949440" y="4041648"/>
              <a:ext cx="1783080" cy="274320"/>
            </a:xfrm>
            <a:prstGeom prst="rect">
              <a:avLst/>
            </a:prstGeom>
            <a:solidFill>
              <a:srgbClr val="3D7A3E"/>
            </a:solidFill>
            <a:ln w="12700">
              <a:solidFill>
                <a:srgbClr val="3D7A3E"/>
              </a:solidFill>
              <a:prstDash val="solid"/>
            </a:ln>
          </p:spPr>
        </p:sp>
        <p:sp>
          <p:nvSpPr>
            <p:cNvPr id="15" name="Text 16">
              <a:extLst>
                <a:ext uri="{FF2B5EF4-FFF2-40B4-BE49-F238E27FC236}">
                  <a16:creationId xmlns:a16="http://schemas.microsoft.com/office/drawing/2014/main" id="{666862F5-5ED6-ED5C-9519-3FA9572ED2EF}"/>
                </a:ext>
              </a:extLst>
            </p:cNvPr>
            <p:cNvSpPr/>
            <p:nvPr/>
          </p:nvSpPr>
          <p:spPr>
            <a:xfrm>
              <a:off x="6949440" y="4041648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Our System</a:t>
              </a:r>
              <a:endParaRPr lang="en-US" sz="2400" dirty="0"/>
            </a:p>
          </p:txBody>
        </p:sp>
        <p:sp>
          <p:nvSpPr>
            <p:cNvPr id="16" name="Shape 17">
              <a:extLst>
                <a:ext uri="{FF2B5EF4-FFF2-40B4-BE49-F238E27FC236}">
                  <a16:creationId xmlns:a16="http://schemas.microsoft.com/office/drawing/2014/main" id="{C0F642F7-8AAD-CBDA-CA54-3C80545022FC}"/>
                </a:ext>
              </a:extLst>
            </p:cNvPr>
            <p:cNvSpPr/>
            <p:nvPr/>
          </p:nvSpPr>
          <p:spPr>
            <a:xfrm>
              <a:off x="274320" y="4315968"/>
              <a:ext cx="1965960" cy="24688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8E6C9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7" name="Text 18">
              <a:extLst>
                <a:ext uri="{FF2B5EF4-FFF2-40B4-BE49-F238E27FC236}">
                  <a16:creationId xmlns:a16="http://schemas.microsoft.com/office/drawing/2014/main" id="{293C30F5-5AB7-AF9E-4DEF-9D104FC33D0B}"/>
                </a:ext>
              </a:extLst>
            </p:cNvPr>
            <p:cNvSpPr/>
            <p:nvPr/>
          </p:nvSpPr>
          <p:spPr>
            <a:xfrm>
              <a:off x="274320" y="4315968"/>
              <a:ext cx="196596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Works Without Image</a:t>
              </a:r>
              <a:endParaRPr lang="en-US" dirty="0"/>
            </a:p>
          </p:txBody>
        </p:sp>
        <p:sp>
          <p:nvSpPr>
            <p:cNvPr id="18" name="Shape 19">
              <a:extLst>
                <a:ext uri="{FF2B5EF4-FFF2-40B4-BE49-F238E27FC236}">
                  <a16:creationId xmlns:a16="http://schemas.microsoft.com/office/drawing/2014/main" id="{E5C4B699-6970-A6D1-28B8-5111BE5313EE}"/>
                </a:ext>
              </a:extLst>
            </p:cNvPr>
            <p:cNvSpPr/>
            <p:nvPr/>
          </p:nvSpPr>
          <p:spPr>
            <a:xfrm>
              <a:off x="2286000" y="4315968"/>
              <a:ext cx="1508760" cy="24688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8E6C9"/>
              </a:solidFill>
              <a:prstDash val="solid"/>
            </a:ln>
          </p:spPr>
        </p:sp>
        <p:sp>
          <p:nvSpPr>
            <p:cNvPr id="19" name="Text 20">
              <a:extLst>
                <a:ext uri="{FF2B5EF4-FFF2-40B4-BE49-F238E27FC236}">
                  <a16:creationId xmlns:a16="http://schemas.microsoft.com/office/drawing/2014/main" id="{1850CA09-2EC8-BA32-2B45-5816D50F7E1B}"/>
                </a:ext>
              </a:extLst>
            </p:cNvPr>
            <p:cNvSpPr/>
            <p:nvPr/>
          </p:nvSpPr>
          <p:spPr>
            <a:xfrm>
              <a:off x="2286000" y="4315968"/>
              <a:ext cx="150876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</a:t>
              </a:r>
              <a:endParaRPr lang="en-US" dirty="0"/>
            </a:p>
          </p:txBody>
        </p:sp>
        <p:sp>
          <p:nvSpPr>
            <p:cNvPr id="20" name="Shape 21">
              <a:extLst>
                <a:ext uri="{FF2B5EF4-FFF2-40B4-BE49-F238E27FC236}">
                  <a16:creationId xmlns:a16="http://schemas.microsoft.com/office/drawing/2014/main" id="{A1D54475-99E7-6BCF-9B07-70EBB2975B5F}"/>
                </a:ext>
              </a:extLst>
            </p:cNvPr>
            <p:cNvSpPr/>
            <p:nvPr/>
          </p:nvSpPr>
          <p:spPr>
            <a:xfrm>
              <a:off x="3840480" y="4315968"/>
              <a:ext cx="1508760" cy="24688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8E6C9"/>
              </a:solidFill>
              <a:prstDash val="solid"/>
            </a:ln>
          </p:spPr>
        </p:sp>
        <p:sp>
          <p:nvSpPr>
            <p:cNvPr id="21" name="Text 22">
              <a:extLst>
                <a:ext uri="{FF2B5EF4-FFF2-40B4-BE49-F238E27FC236}">
                  <a16:creationId xmlns:a16="http://schemas.microsoft.com/office/drawing/2014/main" id="{2F19C831-7F9A-C121-0338-45098432EDFD}"/>
                </a:ext>
              </a:extLst>
            </p:cNvPr>
            <p:cNvSpPr/>
            <p:nvPr/>
          </p:nvSpPr>
          <p:spPr>
            <a:xfrm>
              <a:off x="3840480" y="4315968"/>
              <a:ext cx="150876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</a:t>
              </a:r>
              <a:endParaRPr lang="en-US" dirty="0"/>
            </a:p>
          </p:txBody>
        </p:sp>
        <p:sp>
          <p:nvSpPr>
            <p:cNvPr id="22" name="Shape 23">
              <a:extLst>
                <a:ext uri="{FF2B5EF4-FFF2-40B4-BE49-F238E27FC236}">
                  <a16:creationId xmlns:a16="http://schemas.microsoft.com/office/drawing/2014/main" id="{8D6728D7-5CB0-A550-4EA1-C2C14501461F}"/>
                </a:ext>
              </a:extLst>
            </p:cNvPr>
            <p:cNvSpPr/>
            <p:nvPr/>
          </p:nvSpPr>
          <p:spPr>
            <a:xfrm>
              <a:off x="5394960" y="4315968"/>
              <a:ext cx="1508760" cy="24688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8E6C9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3" name="Text 24">
              <a:extLst>
                <a:ext uri="{FF2B5EF4-FFF2-40B4-BE49-F238E27FC236}">
                  <a16:creationId xmlns:a16="http://schemas.microsoft.com/office/drawing/2014/main" id="{D50F58A2-AF52-5647-AA3E-BA6BAC28F36E}"/>
                </a:ext>
              </a:extLst>
            </p:cNvPr>
            <p:cNvSpPr/>
            <p:nvPr/>
          </p:nvSpPr>
          <p:spPr>
            <a:xfrm>
              <a:off x="5394960" y="4315968"/>
              <a:ext cx="150876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</a:t>
              </a:r>
              <a:endParaRPr lang="en-US" dirty="0"/>
            </a:p>
          </p:txBody>
        </p:sp>
        <p:sp>
          <p:nvSpPr>
            <p:cNvPr id="24" name="Shape 25">
              <a:extLst>
                <a:ext uri="{FF2B5EF4-FFF2-40B4-BE49-F238E27FC236}">
                  <a16:creationId xmlns:a16="http://schemas.microsoft.com/office/drawing/2014/main" id="{DF0F12C6-64CB-4368-0F27-0DB5EF72BBDE}"/>
                </a:ext>
              </a:extLst>
            </p:cNvPr>
            <p:cNvSpPr/>
            <p:nvPr/>
          </p:nvSpPr>
          <p:spPr>
            <a:xfrm>
              <a:off x="6949440" y="4315968"/>
              <a:ext cx="1783080" cy="246888"/>
            </a:xfrm>
            <a:prstGeom prst="rect">
              <a:avLst/>
            </a:prstGeom>
            <a:solidFill>
              <a:srgbClr val="E8F5E9"/>
            </a:solidFill>
            <a:ln w="6350">
              <a:solidFill>
                <a:srgbClr val="C8E6C9"/>
              </a:solidFill>
              <a:prstDash val="solid"/>
            </a:ln>
          </p:spPr>
        </p:sp>
        <p:sp>
          <p:nvSpPr>
            <p:cNvPr id="25" name="Text 26">
              <a:extLst>
                <a:ext uri="{FF2B5EF4-FFF2-40B4-BE49-F238E27FC236}">
                  <a16:creationId xmlns:a16="http://schemas.microsoft.com/office/drawing/2014/main" id="{B979D974-4C7C-72B9-FFB3-1BB5216E04BE}"/>
                </a:ext>
              </a:extLst>
            </p:cNvPr>
            <p:cNvSpPr/>
            <p:nvPr/>
          </p:nvSpPr>
          <p:spPr>
            <a:xfrm>
              <a:off x="6949440" y="4315968"/>
              <a:ext cx="178308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2C5F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Yes ✓</a:t>
              </a:r>
              <a:endParaRPr lang="en-US" dirty="0"/>
            </a:p>
          </p:txBody>
        </p:sp>
        <p:sp>
          <p:nvSpPr>
            <p:cNvPr id="26" name="Shape 27">
              <a:extLst>
                <a:ext uri="{FF2B5EF4-FFF2-40B4-BE49-F238E27FC236}">
                  <a16:creationId xmlns:a16="http://schemas.microsoft.com/office/drawing/2014/main" id="{16F58FFE-A3B7-72D1-46A9-39FD0655556C}"/>
                </a:ext>
              </a:extLst>
            </p:cNvPr>
            <p:cNvSpPr/>
            <p:nvPr/>
          </p:nvSpPr>
          <p:spPr>
            <a:xfrm>
              <a:off x="274320" y="4572000"/>
              <a:ext cx="1965960" cy="246888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8E6C9"/>
              </a:solidFill>
              <a:prstDash val="solid"/>
            </a:ln>
          </p:spPr>
        </p:sp>
        <p:sp>
          <p:nvSpPr>
            <p:cNvPr id="27" name="Text 28">
              <a:extLst>
                <a:ext uri="{FF2B5EF4-FFF2-40B4-BE49-F238E27FC236}">
                  <a16:creationId xmlns:a16="http://schemas.microsoft.com/office/drawing/2014/main" id="{CDE8E898-6768-E0C8-C558-BD786D0CE68D}"/>
                </a:ext>
              </a:extLst>
            </p:cNvPr>
            <p:cNvSpPr/>
            <p:nvPr/>
          </p:nvSpPr>
          <p:spPr>
            <a:xfrm>
              <a:off x="274320" y="4572000"/>
              <a:ext cx="196596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Confidence Score</a:t>
              </a:r>
              <a:endParaRPr lang="en-US" dirty="0"/>
            </a:p>
          </p:txBody>
        </p:sp>
        <p:sp>
          <p:nvSpPr>
            <p:cNvPr id="28" name="Shape 29">
              <a:extLst>
                <a:ext uri="{FF2B5EF4-FFF2-40B4-BE49-F238E27FC236}">
                  <a16:creationId xmlns:a16="http://schemas.microsoft.com/office/drawing/2014/main" id="{147FB226-2F66-D7DE-C91E-3FA5590A48E8}"/>
                </a:ext>
              </a:extLst>
            </p:cNvPr>
            <p:cNvSpPr/>
            <p:nvPr/>
          </p:nvSpPr>
          <p:spPr>
            <a:xfrm>
              <a:off x="2286000" y="4572000"/>
              <a:ext cx="1508760" cy="246888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8E6C9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9" name="Text 30">
              <a:extLst>
                <a:ext uri="{FF2B5EF4-FFF2-40B4-BE49-F238E27FC236}">
                  <a16:creationId xmlns:a16="http://schemas.microsoft.com/office/drawing/2014/main" id="{A271AB57-7447-B416-39A7-FFC9F61E51F5}"/>
                </a:ext>
              </a:extLst>
            </p:cNvPr>
            <p:cNvSpPr/>
            <p:nvPr/>
          </p:nvSpPr>
          <p:spPr>
            <a:xfrm>
              <a:off x="2286000" y="4572000"/>
              <a:ext cx="150876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</a:t>
              </a:r>
              <a:endParaRPr lang="en-US" dirty="0"/>
            </a:p>
          </p:txBody>
        </p:sp>
        <p:sp>
          <p:nvSpPr>
            <p:cNvPr id="30" name="Shape 31">
              <a:extLst>
                <a:ext uri="{FF2B5EF4-FFF2-40B4-BE49-F238E27FC236}">
                  <a16:creationId xmlns:a16="http://schemas.microsoft.com/office/drawing/2014/main" id="{CE7C23D2-C01B-FFCC-7B1C-039F1EAD7D33}"/>
                </a:ext>
              </a:extLst>
            </p:cNvPr>
            <p:cNvSpPr/>
            <p:nvPr/>
          </p:nvSpPr>
          <p:spPr>
            <a:xfrm>
              <a:off x="3840480" y="4572000"/>
              <a:ext cx="1508760" cy="246888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8E6C9"/>
              </a:solidFill>
              <a:prstDash val="solid"/>
            </a:ln>
          </p:spPr>
        </p:sp>
        <p:sp>
          <p:nvSpPr>
            <p:cNvPr id="31" name="Text 32">
              <a:extLst>
                <a:ext uri="{FF2B5EF4-FFF2-40B4-BE49-F238E27FC236}">
                  <a16:creationId xmlns:a16="http://schemas.microsoft.com/office/drawing/2014/main" id="{D20E2B5F-8681-521A-5BB2-F34C1ADBC333}"/>
                </a:ext>
              </a:extLst>
            </p:cNvPr>
            <p:cNvSpPr/>
            <p:nvPr/>
          </p:nvSpPr>
          <p:spPr>
            <a:xfrm>
              <a:off x="3840480" y="4572000"/>
              <a:ext cx="150876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</a:t>
              </a:r>
              <a:endParaRPr lang="en-US" dirty="0"/>
            </a:p>
          </p:txBody>
        </p:sp>
        <p:sp>
          <p:nvSpPr>
            <p:cNvPr id="32" name="Shape 33">
              <a:extLst>
                <a:ext uri="{FF2B5EF4-FFF2-40B4-BE49-F238E27FC236}">
                  <a16:creationId xmlns:a16="http://schemas.microsoft.com/office/drawing/2014/main" id="{2B5A13A7-F817-681E-3E59-5FE21A0F5144}"/>
                </a:ext>
              </a:extLst>
            </p:cNvPr>
            <p:cNvSpPr/>
            <p:nvPr/>
          </p:nvSpPr>
          <p:spPr>
            <a:xfrm>
              <a:off x="5394960" y="4572000"/>
              <a:ext cx="1508760" cy="246888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8E6C9"/>
              </a:solidFill>
              <a:prstDash val="solid"/>
            </a:ln>
          </p:spPr>
        </p:sp>
        <p:sp>
          <p:nvSpPr>
            <p:cNvPr id="33" name="Text 34">
              <a:extLst>
                <a:ext uri="{FF2B5EF4-FFF2-40B4-BE49-F238E27FC236}">
                  <a16:creationId xmlns:a16="http://schemas.microsoft.com/office/drawing/2014/main" id="{EF52528A-3AD8-FC79-6759-73EE5073745C}"/>
                </a:ext>
              </a:extLst>
            </p:cNvPr>
            <p:cNvSpPr/>
            <p:nvPr/>
          </p:nvSpPr>
          <p:spPr>
            <a:xfrm>
              <a:off x="5394960" y="4572000"/>
              <a:ext cx="150876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</a:t>
              </a:r>
              <a:endParaRPr lang="en-US" dirty="0"/>
            </a:p>
          </p:txBody>
        </p:sp>
        <p:sp>
          <p:nvSpPr>
            <p:cNvPr id="34" name="Shape 35">
              <a:extLst>
                <a:ext uri="{FF2B5EF4-FFF2-40B4-BE49-F238E27FC236}">
                  <a16:creationId xmlns:a16="http://schemas.microsoft.com/office/drawing/2014/main" id="{2DC6049E-DA8A-FED3-D154-1DC20902CF62}"/>
                </a:ext>
              </a:extLst>
            </p:cNvPr>
            <p:cNvSpPr/>
            <p:nvPr/>
          </p:nvSpPr>
          <p:spPr>
            <a:xfrm>
              <a:off x="6949440" y="4572000"/>
              <a:ext cx="1783080" cy="246888"/>
            </a:xfrm>
            <a:prstGeom prst="rect">
              <a:avLst/>
            </a:prstGeom>
            <a:solidFill>
              <a:srgbClr val="E8F5E9"/>
            </a:solidFill>
            <a:ln w="6350">
              <a:solidFill>
                <a:srgbClr val="C8E6C9"/>
              </a:solidFill>
              <a:prstDash val="solid"/>
            </a:ln>
          </p:spPr>
        </p:sp>
        <p:sp>
          <p:nvSpPr>
            <p:cNvPr id="35" name="Text 36">
              <a:extLst>
                <a:ext uri="{FF2B5EF4-FFF2-40B4-BE49-F238E27FC236}">
                  <a16:creationId xmlns:a16="http://schemas.microsoft.com/office/drawing/2014/main" id="{B4CC6B3A-193C-06DD-F64E-BD289DF660A6}"/>
                </a:ext>
              </a:extLst>
            </p:cNvPr>
            <p:cNvSpPr/>
            <p:nvPr/>
          </p:nvSpPr>
          <p:spPr>
            <a:xfrm>
              <a:off x="6949440" y="4572000"/>
              <a:ext cx="178308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2C5F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Yes ✓</a:t>
              </a:r>
              <a:endParaRPr lang="en-US" dirty="0"/>
            </a:p>
          </p:txBody>
        </p:sp>
        <p:sp>
          <p:nvSpPr>
            <p:cNvPr id="36" name="Shape 37">
              <a:extLst>
                <a:ext uri="{FF2B5EF4-FFF2-40B4-BE49-F238E27FC236}">
                  <a16:creationId xmlns:a16="http://schemas.microsoft.com/office/drawing/2014/main" id="{79DD5C3C-AE37-88FD-B87C-01A9D27B8CAF}"/>
                </a:ext>
              </a:extLst>
            </p:cNvPr>
            <p:cNvSpPr/>
            <p:nvPr/>
          </p:nvSpPr>
          <p:spPr>
            <a:xfrm>
              <a:off x="274320" y="4828032"/>
              <a:ext cx="1965960" cy="24688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8E6C9"/>
              </a:solidFill>
              <a:prstDash val="solid"/>
            </a:ln>
          </p:spPr>
        </p:sp>
        <p:sp>
          <p:nvSpPr>
            <p:cNvPr id="37" name="Text 38">
              <a:extLst>
                <a:ext uri="{FF2B5EF4-FFF2-40B4-BE49-F238E27FC236}">
                  <a16:creationId xmlns:a16="http://schemas.microsoft.com/office/drawing/2014/main" id="{CA645C38-CA9D-04A2-2D4C-7B395E0C08B8}"/>
                </a:ext>
              </a:extLst>
            </p:cNvPr>
            <p:cNvSpPr/>
            <p:nvPr/>
          </p:nvSpPr>
          <p:spPr>
            <a:xfrm>
              <a:off x="274320" y="4828032"/>
              <a:ext cx="196596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Rural Accessibility</a:t>
              </a:r>
              <a:endParaRPr lang="en-US" dirty="0"/>
            </a:p>
          </p:txBody>
        </p:sp>
        <p:sp>
          <p:nvSpPr>
            <p:cNvPr id="38" name="Shape 39">
              <a:extLst>
                <a:ext uri="{FF2B5EF4-FFF2-40B4-BE49-F238E27FC236}">
                  <a16:creationId xmlns:a16="http://schemas.microsoft.com/office/drawing/2014/main" id="{A0DF6E72-8AE4-E6A6-5260-9777B359088D}"/>
                </a:ext>
              </a:extLst>
            </p:cNvPr>
            <p:cNvSpPr/>
            <p:nvPr/>
          </p:nvSpPr>
          <p:spPr>
            <a:xfrm>
              <a:off x="2286000" y="4828032"/>
              <a:ext cx="1508760" cy="24688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8E6C9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9" name="Text 40">
              <a:extLst>
                <a:ext uri="{FF2B5EF4-FFF2-40B4-BE49-F238E27FC236}">
                  <a16:creationId xmlns:a16="http://schemas.microsoft.com/office/drawing/2014/main" id="{89CB68A2-BDC9-D828-4158-152CB420BD2D}"/>
                </a:ext>
              </a:extLst>
            </p:cNvPr>
            <p:cNvSpPr/>
            <p:nvPr/>
          </p:nvSpPr>
          <p:spPr>
            <a:xfrm>
              <a:off x="2286000" y="4828032"/>
              <a:ext cx="150876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</a:t>
              </a:r>
              <a:endParaRPr lang="en-US" dirty="0"/>
            </a:p>
          </p:txBody>
        </p:sp>
        <p:sp>
          <p:nvSpPr>
            <p:cNvPr id="40" name="Shape 41">
              <a:extLst>
                <a:ext uri="{FF2B5EF4-FFF2-40B4-BE49-F238E27FC236}">
                  <a16:creationId xmlns:a16="http://schemas.microsoft.com/office/drawing/2014/main" id="{D738861D-A407-2085-AF14-67A553428ECE}"/>
                </a:ext>
              </a:extLst>
            </p:cNvPr>
            <p:cNvSpPr/>
            <p:nvPr/>
          </p:nvSpPr>
          <p:spPr>
            <a:xfrm>
              <a:off x="3840480" y="4828032"/>
              <a:ext cx="1508760" cy="24688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8E6C9"/>
              </a:solidFill>
              <a:prstDash val="solid"/>
            </a:ln>
          </p:spPr>
        </p:sp>
        <p:sp>
          <p:nvSpPr>
            <p:cNvPr id="41" name="Text 42">
              <a:extLst>
                <a:ext uri="{FF2B5EF4-FFF2-40B4-BE49-F238E27FC236}">
                  <a16:creationId xmlns:a16="http://schemas.microsoft.com/office/drawing/2014/main" id="{C677708E-2966-C153-C37D-B4CC1902B020}"/>
                </a:ext>
              </a:extLst>
            </p:cNvPr>
            <p:cNvSpPr/>
            <p:nvPr/>
          </p:nvSpPr>
          <p:spPr>
            <a:xfrm>
              <a:off x="3840480" y="4828032"/>
              <a:ext cx="150876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</a:t>
              </a:r>
              <a:endParaRPr lang="en-US" dirty="0"/>
            </a:p>
          </p:txBody>
        </p:sp>
        <p:sp>
          <p:nvSpPr>
            <p:cNvPr id="42" name="Shape 43">
              <a:extLst>
                <a:ext uri="{FF2B5EF4-FFF2-40B4-BE49-F238E27FC236}">
                  <a16:creationId xmlns:a16="http://schemas.microsoft.com/office/drawing/2014/main" id="{C9E1C810-180E-2BDF-A211-719F0DB59BF2}"/>
                </a:ext>
              </a:extLst>
            </p:cNvPr>
            <p:cNvSpPr/>
            <p:nvPr/>
          </p:nvSpPr>
          <p:spPr>
            <a:xfrm>
              <a:off x="5394960" y="4828032"/>
              <a:ext cx="1508760" cy="24688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8E6C9"/>
              </a:solidFill>
              <a:prstDash val="solid"/>
            </a:ln>
          </p:spPr>
        </p:sp>
        <p:sp>
          <p:nvSpPr>
            <p:cNvPr id="43" name="Text 44">
              <a:extLst>
                <a:ext uri="{FF2B5EF4-FFF2-40B4-BE49-F238E27FC236}">
                  <a16:creationId xmlns:a16="http://schemas.microsoft.com/office/drawing/2014/main" id="{D21ABAA0-6D1C-4346-2A06-F707F6F21E58}"/>
                </a:ext>
              </a:extLst>
            </p:cNvPr>
            <p:cNvSpPr/>
            <p:nvPr/>
          </p:nvSpPr>
          <p:spPr>
            <a:xfrm>
              <a:off x="5394960" y="4828032"/>
              <a:ext cx="150876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</a:t>
              </a:r>
              <a:endParaRPr lang="en-US" dirty="0"/>
            </a:p>
          </p:txBody>
        </p:sp>
        <p:sp>
          <p:nvSpPr>
            <p:cNvPr id="44" name="Shape 45">
              <a:extLst>
                <a:ext uri="{FF2B5EF4-FFF2-40B4-BE49-F238E27FC236}">
                  <a16:creationId xmlns:a16="http://schemas.microsoft.com/office/drawing/2014/main" id="{8905AAB6-99A9-3EED-136B-51582D587142}"/>
                </a:ext>
              </a:extLst>
            </p:cNvPr>
            <p:cNvSpPr/>
            <p:nvPr/>
          </p:nvSpPr>
          <p:spPr>
            <a:xfrm>
              <a:off x="6949440" y="4828032"/>
              <a:ext cx="1783080" cy="246888"/>
            </a:xfrm>
            <a:prstGeom prst="rect">
              <a:avLst/>
            </a:prstGeom>
            <a:solidFill>
              <a:srgbClr val="E8F5E9"/>
            </a:solidFill>
            <a:ln w="6350">
              <a:solidFill>
                <a:srgbClr val="C8E6C9"/>
              </a:solidFill>
              <a:prstDash val="solid"/>
            </a:ln>
          </p:spPr>
        </p:sp>
        <p:sp>
          <p:nvSpPr>
            <p:cNvPr id="45" name="Text 46">
              <a:extLst>
                <a:ext uri="{FF2B5EF4-FFF2-40B4-BE49-F238E27FC236}">
                  <a16:creationId xmlns:a16="http://schemas.microsoft.com/office/drawing/2014/main" id="{F37D9315-3C9D-B68E-AFF6-89BEE98FACC0}"/>
                </a:ext>
              </a:extLst>
            </p:cNvPr>
            <p:cNvSpPr/>
            <p:nvPr/>
          </p:nvSpPr>
          <p:spPr>
            <a:xfrm>
              <a:off x="6949440" y="4828032"/>
              <a:ext cx="178308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2C5F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 ✓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32821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AE8E3-7AAD-F1EA-B2BA-8279A67B4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927027"/>
          </a:xfrm>
        </p:spPr>
        <p:txBody>
          <a:bodyPr/>
          <a:lstStyle/>
          <a:p>
            <a:r>
              <a:rPr lang="en-US" dirty="0"/>
              <a:t>8. Conclusion &amp; Future Work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17BE9-7F8F-8DB3-A7DD-6A62E047E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13</a:t>
            </a:fld>
            <a:endParaRPr lang="en-IN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CA39B6B-79D9-790D-AE49-A8DE74AB6FAE}"/>
              </a:ext>
            </a:extLst>
          </p:cNvPr>
          <p:cNvGrpSpPr/>
          <p:nvPr/>
        </p:nvGrpSpPr>
        <p:grpSpPr>
          <a:xfrm>
            <a:off x="2185158" y="1455175"/>
            <a:ext cx="8911687" cy="4372896"/>
            <a:chOff x="365760" y="657196"/>
            <a:chExt cx="8503920" cy="3686204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" name="Text 3">
              <a:extLst>
                <a:ext uri="{FF2B5EF4-FFF2-40B4-BE49-F238E27FC236}">
                  <a16:creationId xmlns:a16="http://schemas.microsoft.com/office/drawing/2014/main" id="{A51EA4D9-E563-4AE3-93F9-759E982127AF}"/>
                </a:ext>
              </a:extLst>
            </p:cNvPr>
            <p:cNvSpPr/>
            <p:nvPr/>
          </p:nvSpPr>
          <p:spPr>
            <a:xfrm>
              <a:off x="365760" y="657196"/>
              <a:ext cx="4114800" cy="485805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chemeClr val="tx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Key Achievements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8" name="Shape 4">
              <a:extLst>
                <a:ext uri="{FF2B5EF4-FFF2-40B4-BE49-F238E27FC236}">
                  <a16:creationId xmlns:a16="http://schemas.microsoft.com/office/drawing/2014/main" id="{EA366B68-E97D-A38E-A7D6-0915662CC657}"/>
                </a:ext>
              </a:extLst>
            </p:cNvPr>
            <p:cNvSpPr/>
            <p:nvPr/>
          </p:nvSpPr>
          <p:spPr>
            <a:xfrm>
              <a:off x="365760" y="1188720"/>
              <a:ext cx="4114800" cy="685800"/>
            </a:xfrm>
            <a:prstGeom prst="roundRect">
              <a:avLst>
                <a:gd name="adj" fmla="val 9333"/>
              </a:avLst>
            </a:prstGeom>
            <a:grpFill/>
            <a:ln w="12700">
              <a:solidFill>
                <a:srgbClr val="92AA4C"/>
              </a:solidFill>
              <a:prstDash val="solid"/>
            </a:ln>
          </p:spPr>
        </p:sp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6D0098C5-01B7-EA56-A6CB-849A2C2F766E}"/>
                </a:ext>
              </a:extLst>
            </p:cNvPr>
            <p:cNvSpPr/>
            <p:nvPr/>
          </p:nvSpPr>
          <p:spPr>
            <a:xfrm>
              <a:off x="502920" y="1234440"/>
              <a:ext cx="3840480" cy="59436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6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93.4% accuracy using Random Forest  classifier</a:t>
              </a:r>
              <a:endParaRPr lang="en-US" sz="1600" dirty="0"/>
            </a:p>
          </p:txBody>
        </p:sp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2277D094-F09A-0FF1-642C-4D2D7E3622EF}"/>
                </a:ext>
              </a:extLst>
            </p:cNvPr>
            <p:cNvSpPr/>
            <p:nvPr/>
          </p:nvSpPr>
          <p:spPr>
            <a:xfrm>
              <a:off x="365760" y="2011680"/>
              <a:ext cx="4114800" cy="685800"/>
            </a:xfrm>
            <a:prstGeom prst="roundRect">
              <a:avLst>
                <a:gd name="adj" fmla="val 9333"/>
              </a:avLst>
            </a:prstGeom>
            <a:grpFill/>
            <a:ln w="12700">
              <a:solidFill>
                <a:srgbClr val="92AA4C"/>
              </a:solidFill>
              <a:prstDash val="solid"/>
            </a:ln>
          </p:spPr>
        </p:sp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173B7009-F408-F9B1-6DAC-DA2771D65717}"/>
                </a:ext>
              </a:extLst>
            </p:cNvPr>
            <p:cNvSpPr/>
            <p:nvPr/>
          </p:nvSpPr>
          <p:spPr>
            <a:xfrm>
              <a:off x="502920" y="2057400"/>
              <a:ext cx="3840480" cy="59436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92AA4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  </a:t>
              </a:r>
              <a:r>
                <a:rPr lang="en-US" sz="16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Symptom-based — no image dependency</a:t>
              </a:r>
              <a:endParaRPr lang="en-US" sz="1600" dirty="0"/>
            </a:p>
          </p:txBody>
        </p:sp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D83CA47E-39C6-36D5-914F-906D8057741B}"/>
                </a:ext>
              </a:extLst>
            </p:cNvPr>
            <p:cNvSpPr/>
            <p:nvPr/>
          </p:nvSpPr>
          <p:spPr>
            <a:xfrm>
              <a:off x="365760" y="2834640"/>
              <a:ext cx="4114800" cy="685800"/>
            </a:xfrm>
            <a:prstGeom prst="roundRect">
              <a:avLst>
                <a:gd name="adj" fmla="val 9333"/>
              </a:avLst>
            </a:prstGeom>
            <a:grpFill/>
            <a:ln w="12700">
              <a:solidFill>
                <a:srgbClr val="92AA4C"/>
              </a:solidFill>
              <a:prstDash val="solid"/>
            </a:ln>
          </p:spPr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12788D4-44E2-3901-1587-C9C899564F12}"/>
                </a:ext>
              </a:extLst>
            </p:cNvPr>
            <p:cNvSpPr/>
            <p:nvPr/>
          </p:nvSpPr>
          <p:spPr>
            <a:xfrm>
              <a:off x="502920" y="2880360"/>
              <a:ext cx="3840480" cy="59436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6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1.2 second average prediction response time</a:t>
              </a:r>
              <a:endParaRPr lang="en-US" sz="1600" dirty="0"/>
            </a:p>
          </p:txBody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F3344721-D3FC-6E1B-E03B-695E3AC378A6}"/>
                </a:ext>
              </a:extLst>
            </p:cNvPr>
            <p:cNvSpPr/>
            <p:nvPr/>
          </p:nvSpPr>
          <p:spPr>
            <a:xfrm>
              <a:off x="365760" y="3657600"/>
              <a:ext cx="4114800" cy="685800"/>
            </a:xfrm>
            <a:prstGeom prst="roundRect">
              <a:avLst>
                <a:gd name="adj" fmla="val 9333"/>
              </a:avLst>
            </a:prstGeom>
            <a:grpFill/>
            <a:ln w="12700">
              <a:solidFill>
                <a:srgbClr val="92AA4C"/>
              </a:solidFill>
              <a:prstDash val="solid"/>
            </a:ln>
          </p:spPr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83B4A965-CDC5-7E6C-D27F-6AA9E468E4C0}"/>
                </a:ext>
              </a:extLst>
            </p:cNvPr>
            <p:cNvSpPr/>
            <p:nvPr/>
          </p:nvSpPr>
          <p:spPr>
            <a:xfrm>
              <a:off x="502920" y="3703320"/>
              <a:ext cx="3840480" cy="59436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92AA4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  </a:t>
              </a:r>
              <a:r>
                <a:rPr lang="en-US" sz="16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Accessible to non-technical rural farmers</a:t>
              </a:r>
              <a:endParaRPr lang="en-US" sz="1600" dirty="0"/>
            </a:p>
          </p:txBody>
        </p:sp>
        <p:sp>
          <p:nvSpPr>
            <p:cNvPr id="16" name="Text 12">
              <a:extLst>
                <a:ext uri="{FF2B5EF4-FFF2-40B4-BE49-F238E27FC236}">
                  <a16:creationId xmlns:a16="http://schemas.microsoft.com/office/drawing/2014/main" id="{EAC6AFFC-7C65-2AE2-3147-643EAF83CCDB}"/>
                </a:ext>
              </a:extLst>
            </p:cNvPr>
            <p:cNvSpPr/>
            <p:nvPr/>
          </p:nvSpPr>
          <p:spPr>
            <a:xfrm>
              <a:off x="4754880" y="657196"/>
              <a:ext cx="4114800" cy="485805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chemeClr val="tx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Future Work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7" name="Shape 13">
              <a:extLst>
                <a:ext uri="{FF2B5EF4-FFF2-40B4-BE49-F238E27FC236}">
                  <a16:creationId xmlns:a16="http://schemas.microsoft.com/office/drawing/2014/main" id="{C4D31FEF-EAEF-A485-7E29-C2E9C86FEE94}"/>
                </a:ext>
              </a:extLst>
            </p:cNvPr>
            <p:cNvSpPr/>
            <p:nvPr/>
          </p:nvSpPr>
          <p:spPr>
            <a:xfrm>
              <a:off x="4754880" y="1188720"/>
              <a:ext cx="4114800" cy="685800"/>
            </a:xfrm>
            <a:prstGeom prst="roundRect">
              <a:avLst>
                <a:gd name="adj" fmla="val 9333"/>
              </a:avLst>
            </a:prstGeom>
            <a:grpFill/>
            <a:ln w="12700">
              <a:solidFill>
                <a:srgbClr val="92AA4C"/>
              </a:solidFill>
              <a:prstDash val="solid"/>
            </a:ln>
          </p:spPr>
        </p:sp>
        <p:sp>
          <p:nvSpPr>
            <p:cNvPr id="18" name="Text 14">
              <a:extLst>
                <a:ext uri="{FF2B5EF4-FFF2-40B4-BE49-F238E27FC236}">
                  <a16:creationId xmlns:a16="http://schemas.microsoft.com/office/drawing/2014/main" id="{424189F4-F543-392D-2032-35B06B159B4E}"/>
                </a:ext>
              </a:extLst>
            </p:cNvPr>
            <p:cNvSpPr/>
            <p:nvPr/>
          </p:nvSpPr>
          <p:spPr>
            <a:xfrm>
              <a:off x="4892040" y="1234440"/>
              <a:ext cx="3840480" cy="59436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92AA4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</a:t>
              </a:r>
              <a:r>
                <a:rPr lang="en-US" sz="16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Expand to 50+ diseases across more crops</a:t>
              </a:r>
              <a:endParaRPr lang="en-US" sz="1600" dirty="0"/>
            </a:p>
          </p:txBody>
        </p:sp>
        <p:sp>
          <p:nvSpPr>
            <p:cNvPr id="19" name="Shape 15">
              <a:extLst>
                <a:ext uri="{FF2B5EF4-FFF2-40B4-BE49-F238E27FC236}">
                  <a16:creationId xmlns:a16="http://schemas.microsoft.com/office/drawing/2014/main" id="{C180C05C-4DEF-F088-309A-30267BA1F35B}"/>
                </a:ext>
              </a:extLst>
            </p:cNvPr>
            <p:cNvSpPr/>
            <p:nvPr/>
          </p:nvSpPr>
          <p:spPr>
            <a:xfrm>
              <a:off x="4754880" y="2011680"/>
              <a:ext cx="4114800" cy="685800"/>
            </a:xfrm>
            <a:prstGeom prst="roundRect">
              <a:avLst>
                <a:gd name="adj" fmla="val 9333"/>
              </a:avLst>
            </a:prstGeom>
            <a:grpFill/>
            <a:ln w="12700">
              <a:solidFill>
                <a:srgbClr val="92AA4C"/>
              </a:solidFill>
              <a:prstDash val="solid"/>
            </a:ln>
          </p:spPr>
        </p:sp>
        <p:sp>
          <p:nvSpPr>
            <p:cNvPr id="20" name="Text 16">
              <a:extLst>
                <a:ext uri="{FF2B5EF4-FFF2-40B4-BE49-F238E27FC236}">
                  <a16:creationId xmlns:a16="http://schemas.microsoft.com/office/drawing/2014/main" id="{0417E3AB-F0AB-C4E9-7F59-517021BB85D9}"/>
                </a:ext>
              </a:extLst>
            </p:cNvPr>
            <p:cNvSpPr/>
            <p:nvPr/>
          </p:nvSpPr>
          <p:spPr>
            <a:xfrm>
              <a:off x="4892040" y="2057400"/>
              <a:ext cx="3840480" cy="59436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sz="16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Integrate MobileNetV3 for image analysis</a:t>
              </a:r>
              <a:endParaRPr lang="en-US" sz="1600" dirty="0"/>
            </a:p>
          </p:txBody>
        </p:sp>
        <p:sp>
          <p:nvSpPr>
            <p:cNvPr id="21" name="Shape 17">
              <a:extLst>
                <a:ext uri="{FF2B5EF4-FFF2-40B4-BE49-F238E27FC236}">
                  <a16:creationId xmlns:a16="http://schemas.microsoft.com/office/drawing/2014/main" id="{BCB75BFA-65EF-031F-626A-5F3DAD3E2629}"/>
                </a:ext>
              </a:extLst>
            </p:cNvPr>
            <p:cNvSpPr/>
            <p:nvPr/>
          </p:nvSpPr>
          <p:spPr>
            <a:xfrm>
              <a:off x="4754880" y="2834640"/>
              <a:ext cx="4114800" cy="685800"/>
            </a:xfrm>
            <a:prstGeom prst="roundRect">
              <a:avLst>
                <a:gd name="adj" fmla="val 9333"/>
              </a:avLst>
            </a:prstGeom>
            <a:grpFill/>
            <a:ln w="12700">
              <a:solidFill>
                <a:srgbClr val="92AA4C"/>
              </a:solidFill>
              <a:prstDash val="solid"/>
            </a:ln>
          </p:spPr>
        </p:sp>
        <p:sp>
          <p:nvSpPr>
            <p:cNvPr id="22" name="Text 18">
              <a:extLst>
                <a:ext uri="{FF2B5EF4-FFF2-40B4-BE49-F238E27FC236}">
                  <a16:creationId xmlns:a16="http://schemas.microsoft.com/office/drawing/2014/main" id="{9A422ACB-CC78-7DE0-0688-A6FE9AD71BB2}"/>
                </a:ext>
              </a:extLst>
            </p:cNvPr>
            <p:cNvSpPr/>
            <p:nvPr/>
          </p:nvSpPr>
          <p:spPr>
            <a:xfrm>
              <a:off x="4892040" y="2880360"/>
              <a:ext cx="3840480" cy="59436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92AA4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</a:t>
              </a:r>
              <a:r>
                <a:rPr lang="en-US" sz="16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Develop Android app with offline support</a:t>
              </a:r>
              <a:endParaRPr lang="en-US" sz="1600" dirty="0"/>
            </a:p>
          </p:txBody>
        </p:sp>
        <p:sp>
          <p:nvSpPr>
            <p:cNvPr id="23" name="Shape 19">
              <a:extLst>
                <a:ext uri="{FF2B5EF4-FFF2-40B4-BE49-F238E27FC236}">
                  <a16:creationId xmlns:a16="http://schemas.microsoft.com/office/drawing/2014/main" id="{02A57B4C-3F98-98C2-7A25-62B13190489C}"/>
                </a:ext>
              </a:extLst>
            </p:cNvPr>
            <p:cNvSpPr/>
            <p:nvPr/>
          </p:nvSpPr>
          <p:spPr>
            <a:xfrm>
              <a:off x="4754880" y="3657600"/>
              <a:ext cx="4114800" cy="685800"/>
            </a:xfrm>
            <a:prstGeom prst="roundRect">
              <a:avLst>
                <a:gd name="adj" fmla="val 9333"/>
              </a:avLst>
            </a:prstGeom>
            <a:grpFill/>
            <a:ln w="12700">
              <a:solidFill>
                <a:srgbClr val="92AA4C"/>
              </a:solidFill>
              <a:prstDash val="solid"/>
            </a:ln>
          </p:spPr>
        </p:sp>
        <p:sp>
          <p:nvSpPr>
            <p:cNvPr id="24" name="Text 20">
              <a:extLst>
                <a:ext uri="{FF2B5EF4-FFF2-40B4-BE49-F238E27FC236}">
                  <a16:creationId xmlns:a16="http://schemas.microsoft.com/office/drawing/2014/main" id="{8E5923DE-4732-E4D7-1FDC-D5C9D3A65D0C}"/>
                </a:ext>
              </a:extLst>
            </p:cNvPr>
            <p:cNvSpPr/>
            <p:nvPr/>
          </p:nvSpPr>
          <p:spPr>
            <a:xfrm>
              <a:off x="4892040" y="3703320"/>
              <a:ext cx="3840480" cy="59436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sz="16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Add multilingual support (Hindi, Marathi, Telugu)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57044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9247188" cy="1280890"/>
          </a:xfrm>
        </p:spPr>
        <p:txBody>
          <a:bodyPr/>
          <a:lstStyle/>
          <a:p>
            <a:r>
              <a:rPr lang="en-US" dirty="0"/>
              <a:t>https://github.com/sudarshanr04/EARLY-DISEASE-DETECTION.git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836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C9646-E93C-1967-B61B-316EFA057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15</a:t>
            </a:fld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DA9428-B45B-20BA-B9BF-9EC990C7F486}"/>
              </a:ext>
            </a:extLst>
          </p:cNvPr>
          <p:cNvSpPr/>
          <p:nvPr/>
        </p:nvSpPr>
        <p:spPr>
          <a:xfrm>
            <a:off x="2856270" y="2161088"/>
            <a:ext cx="6479459" cy="163121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0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317134107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328</TotalTime>
  <Words>633</Words>
  <Application>Microsoft Office PowerPoint</Application>
  <PresentationFormat>Widescreen</PresentationFormat>
  <Paragraphs>200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Century Gothic</vt:lpstr>
      <vt:lpstr>Times New Roman</vt:lpstr>
      <vt:lpstr>Wingdings</vt:lpstr>
      <vt:lpstr>Wingdings 3</vt:lpstr>
      <vt:lpstr>Wisp</vt:lpstr>
      <vt:lpstr>           Plant Disease Prediction  Using Symptoms Analysis  </vt:lpstr>
      <vt:lpstr>Contents</vt:lpstr>
      <vt:lpstr>1. Introduction</vt:lpstr>
      <vt:lpstr>2. Literature Review</vt:lpstr>
      <vt:lpstr>3. Proposed Solution &amp; Objectives</vt:lpstr>
      <vt:lpstr>4. System Architecture </vt:lpstr>
      <vt:lpstr>5. Methodology &amp; Workflow</vt:lpstr>
      <vt:lpstr>6. Technology Stack</vt:lpstr>
      <vt:lpstr>6.1 System Screenshots</vt:lpstr>
      <vt:lpstr>System Screenshots</vt:lpstr>
      <vt:lpstr>7. Result &amp; Performance</vt:lpstr>
      <vt:lpstr>7.1 Comparison with Existing Systems</vt:lpstr>
      <vt:lpstr>8. Conclusion &amp; Future Work</vt:lpstr>
      <vt:lpstr>GitHub Link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Synopsis Presentation on  Plant D PREDICTION USING SYMPTOMS ANALYSIS</dc:title>
  <dc:creator>Deepak Singh Chouhan</dc:creator>
  <cp:lastModifiedBy>Yogesh Mali</cp:lastModifiedBy>
  <cp:revision>23</cp:revision>
  <dcterms:created xsi:type="dcterms:W3CDTF">2024-09-26T07:25:32Z</dcterms:created>
  <dcterms:modified xsi:type="dcterms:W3CDTF">2026-06-16T06:14:56Z</dcterms:modified>
</cp:coreProperties>
</file>