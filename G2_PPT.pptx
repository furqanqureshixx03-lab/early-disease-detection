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EE449-3A25-4B05-9151-2AF3363705F3}" v="1" dt="2026-04-10T17:06:21.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89" autoAdjust="0"/>
  </p:normalViewPr>
  <p:slideViewPr>
    <p:cSldViewPr snapToGrid="0">
      <p:cViewPr varScale="1">
        <p:scale>
          <a:sx n="92" d="100"/>
          <a:sy n="92" d="100"/>
        </p:scale>
        <p:origin x="307"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CFAE5-ADF6-4A84-8EA5-0D21F6BA36C9}" type="datetimeFigureOut">
              <a:rPr lang="en-IN" smtClean="0"/>
              <a:t>02-06-2026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5D675-1F46-4B87-A5F8-67DB0C31E211}" type="slidenum">
              <a:rPr lang="en-IN" smtClean="0"/>
              <a:t>‹#›</a:t>
            </a:fld>
            <a:endParaRPr lang="en-IN"/>
          </a:p>
        </p:txBody>
      </p:sp>
    </p:spTree>
    <p:extLst>
      <p:ext uri="{BB962C8B-B14F-4D97-AF65-F5344CB8AC3E}">
        <p14:creationId xmlns:p14="http://schemas.microsoft.com/office/powerpoint/2010/main" val="3763622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35D675-1F46-4B87-A5F8-67DB0C31E211}" type="slidenum">
              <a:rPr lang="en-IN" smtClean="0"/>
              <a:t>4</a:t>
            </a:fld>
            <a:endParaRPr lang="en-IN"/>
          </a:p>
        </p:txBody>
      </p:sp>
    </p:spTree>
    <p:extLst>
      <p:ext uri="{BB962C8B-B14F-4D97-AF65-F5344CB8AC3E}">
        <p14:creationId xmlns:p14="http://schemas.microsoft.com/office/powerpoint/2010/main" val="3417147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35D675-1F46-4B87-A5F8-67DB0C31E211}" type="slidenum">
              <a:rPr lang="en-IN" smtClean="0"/>
              <a:t>9</a:t>
            </a:fld>
            <a:endParaRPr lang="en-IN"/>
          </a:p>
        </p:txBody>
      </p:sp>
    </p:spTree>
    <p:extLst>
      <p:ext uri="{BB962C8B-B14F-4D97-AF65-F5344CB8AC3E}">
        <p14:creationId xmlns:p14="http://schemas.microsoft.com/office/powerpoint/2010/main" val="1760546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35D675-1F46-4B87-A5F8-67DB0C31E211}" type="slidenum">
              <a:rPr lang="en-IN" smtClean="0"/>
              <a:t>12</a:t>
            </a:fld>
            <a:endParaRPr lang="en-IN"/>
          </a:p>
        </p:txBody>
      </p:sp>
    </p:spTree>
    <p:extLst>
      <p:ext uri="{BB962C8B-B14F-4D97-AF65-F5344CB8AC3E}">
        <p14:creationId xmlns:p14="http://schemas.microsoft.com/office/powerpoint/2010/main" val="1912847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F7CE75-2696-426B-A7C6-7629D8CF2437}"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675972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normAutofit/>
          </a:bodyPr>
          <a:lstStyle>
            <a:lvl1pPr>
              <a:defRPr sz="40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600">
                <a:latin typeface="Times New Roman" panose="02020603050405020304" pitchFamily="18" charset="0"/>
                <a:cs typeface="Times New Roman" panose="02020603050405020304" pitchFamily="18" charset="0"/>
              </a:defRPr>
            </a:lvl3pPr>
            <a:lvl4pPr>
              <a:defRPr sz="14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28F0E0-2234-4197-A558-6EA21AC7A0A0}"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userDrawn="1"/>
        </p:nvSpPr>
        <p:spPr bwMode="auto">
          <a:xfrm rot="10800000" flipV="1">
            <a:off x="10587856" y="6247184"/>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11222029" y="6338155"/>
            <a:ext cx="779767" cy="365125"/>
          </a:xfrm>
        </p:spPr>
        <p:txBody>
          <a:bodyPr/>
          <a:lstStyle>
            <a:lvl1pPr>
              <a:defRPr>
                <a:solidFill>
                  <a:schemeClr val="bg1"/>
                </a:solidFill>
              </a:defRPr>
            </a:lvl1pPr>
          </a:lstStyle>
          <a:p>
            <a:fld id="{A575ECA5-96F4-415B-9B7B-F5BEE4B08E09}" type="slidenum">
              <a:rPr lang="en-IN" smtClean="0"/>
              <a:pPr/>
              <a:t>‹#›</a:t>
            </a:fld>
            <a:endParaRPr lang="en-IN" dirty="0"/>
          </a:p>
        </p:txBody>
      </p:sp>
      <p:pic>
        <p:nvPicPr>
          <p:cNvPr id="9" name="Picture 8">
            <a:extLst>
              <a:ext uri="{FF2B5EF4-FFF2-40B4-BE49-F238E27FC236}">
                <a16:creationId xmlns:a16="http://schemas.microsoft.com/office/drawing/2014/main" id="{4D4E0AF9-0CD7-865F-F584-E7F93A8852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710" y="0"/>
            <a:ext cx="1457325" cy="1243013"/>
          </a:xfrm>
          <a:prstGeom prst="rect">
            <a:avLst/>
          </a:prstGeom>
        </p:spPr>
      </p:pic>
      <p:pic>
        <p:nvPicPr>
          <p:cNvPr id="11" name="Picture 10">
            <a:extLst>
              <a:ext uri="{FF2B5EF4-FFF2-40B4-BE49-F238E27FC236}">
                <a16:creationId xmlns:a16="http://schemas.microsoft.com/office/drawing/2014/main" id="{6642BC9D-E099-1948-3435-FFC2468E3BB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03395" y="-394223"/>
            <a:ext cx="1017037" cy="1808066"/>
          </a:xfrm>
          <a:prstGeom prst="rect">
            <a:avLst/>
          </a:prstGeom>
        </p:spPr>
      </p:pic>
    </p:spTree>
    <p:extLst>
      <p:ext uri="{BB962C8B-B14F-4D97-AF65-F5344CB8AC3E}">
        <p14:creationId xmlns:p14="http://schemas.microsoft.com/office/powerpoint/2010/main" val="368486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33316-F1D2-4CFB-B3A8-36FF84D60DC1}"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69394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EDD2DD-462B-4CBA-AA0A-8301F8EE9842}" type="datetime1">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85902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6F0FB0-DEC5-44F8-B224-7DEA76B58BCE}" type="datetime1">
              <a:rPr lang="en-IN" smtClean="0"/>
              <a:t>02-06-2026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225132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2151C4-12AA-486A-8A73-FD7CDFC9A495}" type="datetime1">
              <a:rPr lang="en-IN" smtClean="0"/>
              <a:t>02-06-2026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49289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4A1EF-1C77-4320-9664-16BFC03E4F4D}" type="datetime1">
              <a:rPr lang="en-IN" smtClean="0"/>
              <a:t>02-06-2026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311484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01BE58-E9FD-47D2-91AC-7CE0251A25B2}" type="datetime1">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428767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71803-78DB-4882-8A70-E311DA0EF9FC}" type="datetime1">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766961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B228FF-BE53-47F7-B430-409A097CA437}"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6977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065DF8-C87B-4AA2-B81E-F9B41C3DE973}"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496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031343-E99C-4C22-AAE8-C343A811CECF}" type="datetime1">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78727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65CDC9B-DBC7-4258-BEB9-733492353AF9}" type="datetime1">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5122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3C6488-E703-4AFF-AB60-B11F0E50C7BC}" type="datetime1">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1273111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F63479-18BA-4E37-9716-A08D210E9EC7}"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535254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F7E75-1528-41FC-88CA-CFEB217670A5}" type="datetime1">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t>‹#›</a:t>
            </a:fld>
            <a:endParaRPr lang="en-IN"/>
          </a:p>
        </p:txBody>
      </p:sp>
    </p:spTree>
    <p:extLst>
      <p:ext uri="{BB962C8B-B14F-4D97-AF65-F5344CB8AC3E}">
        <p14:creationId xmlns:p14="http://schemas.microsoft.com/office/powerpoint/2010/main" val="273855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F858841-AB6D-42AC-A9E1-E0D97A1068DD}" type="datetime1">
              <a:rPr lang="en-IN" smtClean="0"/>
              <a:t>02-06-2026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193EE77-AAE2-43CD-9ABE-9DB80FB4FF84}" type="slidenum">
              <a:rPr lang="en-IN" smtClean="0"/>
              <a:t>‹#›</a:t>
            </a:fld>
            <a:endParaRPr lang="en-IN"/>
          </a:p>
        </p:txBody>
      </p:sp>
    </p:spTree>
    <p:extLst>
      <p:ext uri="{BB962C8B-B14F-4D97-AF65-F5344CB8AC3E}">
        <p14:creationId xmlns:p14="http://schemas.microsoft.com/office/powerpoint/2010/main" val="114260593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kaggle.com/dataset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scikit-learn.org/" TargetMode="External"/><Relationship Id="rId4" Type="http://schemas.openxmlformats.org/officeDocument/2006/relationships/hyperlink" Target="https://www.fao.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4E13-AF13-FE84-B59A-88C7FF0DDD90}"/>
              </a:ext>
            </a:extLst>
          </p:cNvPr>
          <p:cNvSpPr>
            <a:spLocks noGrp="1"/>
          </p:cNvSpPr>
          <p:nvPr>
            <p:ph type="ctrTitle"/>
          </p:nvPr>
        </p:nvSpPr>
        <p:spPr>
          <a:xfrm>
            <a:off x="2070029" y="2173224"/>
            <a:ext cx="8915399" cy="2511551"/>
          </a:xfrm>
        </p:spPr>
        <p:txBody>
          <a:bodyPr>
            <a:normAutofit fontScale="90000"/>
          </a:bodyPr>
          <a:lstStyle/>
          <a:p>
            <a:pPr algn="ct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r>
              <a:rPr lang="en-IN" sz="3100" dirty="0">
                <a:latin typeface="Times New Roman" panose="02020603050405020304" pitchFamily="18" charset="0"/>
                <a:cs typeface="Times New Roman" panose="02020603050405020304" pitchFamily="18" charset="0"/>
              </a:rPr>
              <a:t>Synopsis Presentation</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on </a:t>
            </a:r>
            <a:br>
              <a:rPr lang="en-IN"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Plant Disease Prediction Using Symptoms Analysis</a:t>
            </a:r>
            <a:br>
              <a:rPr lang="en-GB" dirty="0"/>
            </a:b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4B09E56-A5E9-0BDC-98BD-DDD921DCD7E1}"/>
              </a:ext>
            </a:extLst>
          </p:cNvPr>
          <p:cNvSpPr>
            <a:spLocks noGrp="1"/>
          </p:cNvSpPr>
          <p:nvPr>
            <p:ph type="subTitle" idx="1"/>
          </p:nvPr>
        </p:nvSpPr>
        <p:spPr>
          <a:xfrm>
            <a:off x="2375453" y="3223224"/>
            <a:ext cx="9079464" cy="3555264"/>
          </a:xfrm>
        </p:spPr>
        <p:txBody>
          <a:bodyPr>
            <a:normAutofit/>
          </a:bodyPr>
          <a:lstStyle/>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700" b="1" dirty="0">
                <a:latin typeface="Times New Roman" panose="02020603050405020304" pitchFamily="18" charset="0"/>
                <a:cs typeface="Times New Roman" panose="02020603050405020304" pitchFamily="18" charset="0"/>
              </a:rPr>
              <a:t>Guided By:</a:t>
            </a: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Presented By:</a:t>
            </a:r>
          </a:p>
          <a:p>
            <a:r>
              <a:rPr lang="en-IN" sz="1700" dirty="0">
                <a:latin typeface="Times New Roman" panose="02020603050405020304" pitchFamily="18" charset="0"/>
                <a:cs typeface="Times New Roman" panose="02020603050405020304" pitchFamily="18" charset="0"/>
              </a:rPr>
              <a:t>Prof. </a:t>
            </a:r>
            <a:r>
              <a:rPr lang="en-IN" sz="1700" dirty="0" err="1">
                <a:latin typeface="Times New Roman" panose="02020603050405020304" pitchFamily="18" charset="0"/>
                <a:cs typeface="Times New Roman" panose="02020603050405020304" pitchFamily="18" charset="0"/>
              </a:rPr>
              <a:t>Mahendra</a:t>
            </a:r>
            <a:r>
              <a:rPr lang="en-IN" sz="1700" dirty="0">
                <a:latin typeface="Times New Roman" panose="02020603050405020304" pitchFamily="18" charset="0"/>
                <a:cs typeface="Times New Roman" panose="02020603050405020304" pitchFamily="18" charset="0"/>
              </a:rPr>
              <a:t> K. Verma 						                  </a:t>
            </a:r>
            <a:r>
              <a:rPr lang="en-US" sz="1700" dirty="0">
                <a:latin typeface="Times New Roman" panose="02020603050405020304" pitchFamily="18" charset="0"/>
                <a:cs typeface="Times New Roman" panose="02020603050405020304" pitchFamily="18" charset="0"/>
              </a:rPr>
              <a:t>Mo. Furqan Qureshi(0827IT231086) </a:t>
            </a:r>
            <a:r>
              <a:rPr lang="en-IN" sz="1700" dirty="0">
                <a:latin typeface="Times New Roman" panose="02020603050405020304" pitchFamily="18" charset="0"/>
                <a:cs typeface="Times New Roman" panose="02020603050405020304" pitchFamily="18" charset="0"/>
              </a:rPr>
              <a:t>            </a:t>
            </a:r>
          </a:p>
          <a:p>
            <a:r>
              <a:rPr lang="en-IN" sz="17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Sudarshan Rajput    (0827IT231136) </a:t>
            </a:r>
            <a:endParaRPr lang="en-IN" sz="1700" dirty="0">
              <a:latin typeface="Times New Roman" panose="02020603050405020304" pitchFamily="18" charset="0"/>
              <a:cs typeface="Times New Roman" panose="02020603050405020304" pitchFamily="18" charset="0"/>
            </a:endParaRPr>
          </a:p>
          <a:p>
            <a:r>
              <a:rPr lang="en-IN" sz="17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Yogesh Mali            (0827IT231152) </a:t>
            </a:r>
            <a:endParaRPr lang="en-IN" sz="1700" dirty="0">
              <a:latin typeface="Times New Roman" panose="02020603050405020304" pitchFamily="18" charset="0"/>
              <a:cs typeface="Times New Roman" panose="02020603050405020304" pitchFamily="18" charset="0"/>
            </a:endParaRPr>
          </a:p>
          <a:p>
            <a:r>
              <a:rPr lang="en-IN" sz="1700" dirty="0">
                <a:latin typeface="Times New Roman" panose="02020603050405020304" pitchFamily="18" charset="0"/>
                <a:cs typeface="Times New Roman" panose="02020603050405020304" pitchFamily="18" charset="0"/>
              </a:rPr>
              <a:t>                                                                                                       Zoya Qureshi          </a:t>
            </a:r>
            <a:r>
              <a:rPr lang="en-US" sz="1700" dirty="0">
                <a:latin typeface="Times New Roman" panose="02020603050405020304" pitchFamily="18" charset="0"/>
                <a:cs typeface="Times New Roman" panose="02020603050405020304" pitchFamily="18" charset="0"/>
              </a:rPr>
              <a:t>(0827IT231156) </a:t>
            </a:r>
            <a:endParaRPr lang="en-IN" sz="1700" dirty="0">
              <a:latin typeface="Times New Roman" panose="02020603050405020304" pitchFamily="18" charset="0"/>
              <a:cs typeface="Times New Roman" panose="02020603050405020304" pitchFamily="18" charset="0"/>
            </a:endParaRPr>
          </a:p>
          <a:p>
            <a:pPr algn="r"/>
            <a:endParaRPr lang="en-IN" sz="17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69BC312B-2F58-B7DE-00D2-0142F8801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7059" y="-354166"/>
            <a:ext cx="1175716" cy="2090162"/>
          </a:xfrm>
          <a:prstGeom prst="rect">
            <a:avLst/>
          </a:prstGeom>
        </p:spPr>
      </p:pic>
      <p:pic>
        <p:nvPicPr>
          <p:cNvPr id="9" name="Picture 8">
            <a:extLst>
              <a:ext uri="{FF2B5EF4-FFF2-40B4-BE49-F238E27FC236}">
                <a16:creationId xmlns:a16="http://schemas.microsoft.com/office/drawing/2014/main" id="{145F9EF6-DBB5-9291-78C0-1BD5FCF2C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75" y="0"/>
            <a:ext cx="1620078" cy="1381831"/>
          </a:xfrm>
          <a:prstGeom prst="rect">
            <a:avLst/>
          </a:prstGeom>
        </p:spPr>
      </p:pic>
    </p:spTree>
    <p:extLst>
      <p:ext uri="{BB962C8B-B14F-4D97-AF65-F5344CB8AC3E}">
        <p14:creationId xmlns:p14="http://schemas.microsoft.com/office/powerpoint/2010/main" val="417227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8BD3-82F3-F887-7675-7696E56FA9EA}"/>
              </a:ext>
            </a:extLst>
          </p:cNvPr>
          <p:cNvSpPr>
            <a:spLocks noGrp="1"/>
          </p:cNvSpPr>
          <p:nvPr>
            <p:ph type="title"/>
          </p:nvPr>
        </p:nvSpPr>
        <p:spPr>
          <a:xfrm>
            <a:off x="2589212" y="475750"/>
            <a:ext cx="8911687" cy="1280890"/>
          </a:xfrm>
        </p:spPr>
        <p:txBody>
          <a:bodyPr/>
          <a:lstStyle/>
          <a:p>
            <a:r>
              <a:rPr lang="en-IN" dirty="0"/>
              <a:t>Contents</a:t>
            </a:r>
          </a:p>
        </p:txBody>
      </p:sp>
      <p:sp>
        <p:nvSpPr>
          <p:cNvPr id="3" name="Content Placeholder 2">
            <a:extLst>
              <a:ext uri="{FF2B5EF4-FFF2-40B4-BE49-F238E27FC236}">
                <a16:creationId xmlns:a16="http://schemas.microsoft.com/office/drawing/2014/main" id="{CF4DD591-8615-A08A-67F8-943007048E4D}"/>
              </a:ext>
            </a:extLst>
          </p:cNvPr>
          <p:cNvSpPr>
            <a:spLocks noGrp="1"/>
          </p:cNvSpPr>
          <p:nvPr>
            <p:ph idx="1"/>
          </p:nvPr>
        </p:nvSpPr>
        <p:spPr>
          <a:xfrm>
            <a:off x="2589212" y="1152939"/>
            <a:ext cx="8915400" cy="5185216"/>
          </a:xfrm>
        </p:spPr>
        <p:txBody>
          <a:bodyPr>
            <a:normAutofit fontScale="92500" lnSpcReduction="10000"/>
          </a:bodyPr>
          <a:lstStyle/>
          <a:p>
            <a:pPr marL="457200" indent="-457200">
              <a:buFont typeface="+mj-lt"/>
              <a:buAutoNum type="arabicPeriod"/>
            </a:pPr>
            <a:r>
              <a:rPr lang="en-IN" dirty="0"/>
              <a:t>Introduction</a:t>
            </a:r>
          </a:p>
          <a:p>
            <a:pPr marL="457200" lvl="1" indent="0">
              <a:buNone/>
            </a:pPr>
            <a:r>
              <a:rPr lang="en-IN" dirty="0">
                <a:solidFill>
                  <a:srgbClr val="C00000"/>
                </a:solidFill>
              </a:rPr>
              <a:t>1.1</a:t>
            </a:r>
            <a:r>
              <a:rPr lang="en-IN" dirty="0"/>
              <a:t> Overview</a:t>
            </a:r>
          </a:p>
          <a:p>
            <a:pPr marL="457200" lvl="1" indent="0">
              <a:buNone/>
            </a:pPr>
            <a:r>
              <a:rPr lang="en-IN" dirty="0">
                <a:solidFill>
                  <a:srgbClr val="C00000"/>
                </a:solidFill>
              </a:rPr>
              <a:t>1.2</a:t>
            </a:r>
            <a:r>
              <a:rPr lang="en-IN" dirty="0"/>
              <a:t> Purpose</a:t>
            </a:r>
          </a:p>
          <a:p>
            <a:pPr marL="457200" indent="-457200">
              <a:buFont typeface="+mj-lt"/>
              <a:buAutoNum type="arabicPeriod"/>
            </a:pPr>
            <a:r>
              <a:rPr lang="en-IN" dirty="0"/>
              <a:t>Literature Review</a:t>
            </a:r>
          </a:p>
          <a:p>
            <a:pPr marL="457200" indent="-457200">
              <a:buFont typeface="+mj-lt"/>
              <a:buAutoNum type="arabicPeriod"/>
            </a:pPr>
            <a:r>
              <a:rPr lang="en-IN" dirty="0"/>
              <a:t>Problem Statement</a:t>
            </a:r>
          </a:p>
          <a:p>
            <a:pPr marL="457200" indent="-457200">
              <a:buFont typeface="+mj-lt"/>
              <a:buAutoNum type="arabicPeriod"/>
            </a:pPr>
            <a:r>
              <a:rPr lang="en-IN" dirty="0"/>
              <a:t>Proposed Solution</a:t>
            </a:r>
          </a:p>
          <a:p>
            <a:pPr marL="457200" indent="-457200">
              <a:buFont typeface="+mj-lt"/>
              <a:buAutoNum type="arabicPeriod"/>
            </a:pPr>
            <a:r>
              <a:rPr lang="en-IN" dirty="0"/>
              <a:t>Objectives</a:t>
            </a:r>
          </a:p>
          <a:p>
            <a:pPr marL="457200" indent="-457200">
              <a:buFont typeface="+mj-lt"/>
              <a:buAutoNum type="arabicPeriod"/>
            </a:pPr>
            <a:r>
              <a:rPr lang="en-IN" dirty="0"/>
              <a:t>Theoretical Analysis</a:t>
            </a:r>
          </a:p>
          <a:p>
            <a:pPr marL="457200" lvl="1" indent="0">
              <a:buNone/>
            </a:pPr>
            <a:r>
              <a:rPr lang="en-IN" dirty="0">
                <a:solidFill>
                  <a:srgbClr val="C00000"/>
                </a:solidFill>
              </a:rPr>
              <a:t>6.1</a:t>
            </a:r>
            <a:r>
              <a:rPr lang="en-IN" dirty="0"/>
              <a:t> Block Diagram</a:t>
            </a:r>
          </a:p>
          <a:p>
            <a:pPr marL="457200" lvl="1" indent="0">
              <a:buNone/>
            </a:pPr>
            <a:r>
              <a:rPr lang="en-IN" dirty="0">
                <a:solidFill>
                  <a:srgbClr val="C00000"/>
                </a:solidFill>
              </a:rPr>
              <a:t>6.2</a:t>
            </a:r>
            <a:r>
              <a:rPr lang="en-IN" dirty="0"/>
              <a:t> Hardware Requirements</a:t>
            </a:r>
          </a:p>
          <a:p>
            <a:pPr marL="457200" lvl="1" indent="0">
              <a:buNone/>
            </a:pPr>
            <a:r>
              <a:rPr lang="en-IN" dirty="0">
                <a:solidFill>
                  <a:srgbClr val="C00000"/>
                </a:solidFill>
              </a:rPr>
              <a:t>6.3</a:t>
            </a:r>
            <a:r>
              <a:rPr lang="en-IN" dirty="0"/>
              <a:t> Software Requirements</a:t>
            </a:r>
          </a:p>
          <a:p>
            <a:pPr marL="457200" indent="-457200">
              <a:buFont typeface="+mj-lt"/>
              <a:buAutoNum type="arabicPeriod"/>
            </a:pPr>
            <a:r>
              <a:rPr lang="en-IN" dirty="0"/>
              <a:t>Applications </a:t>
            </a:r>
          </a:p>
        </p:txBody>
      </p:sp>
      <p:sp>
        <p:nvSpPr>
          <p:cNvPr id="4" name="Slide Number Placeholder 3">
            <a:extLst>
              <a:ext uri="{FF2B5EF4-FFF2-40B4-BE49-F238E27FC236}">
                <a16:creationId xmlns:a16="http://schemas.microsoft.com/office/drawing/2014/main" id="{E8A21891-9C7A-E4D4-07BD-AF0CB8124C66}"/>
              </a:ext>
            </a:extLst>
          </p:cNvPr>
          <p:cNvSpPr>
            <a:spLocks noGrp="1"/>
          </p:cNvSpPr>
          <p:nvPr>
            <p:ph type="sldNum" sz="quarter" idx="12"/>
          </p:nvPr>
        </p:nvSpPr>
        <p:spPr/>
        <p:txBody>
          <a:bodyPr/>
          <a:lstStyle/>
          <a:p>
            <a:fld id="{A575ECA5-96F4-415B-9B7B-F5BEE4B08E09}" type="slidenum">
              <a:rPr lang="en-IN" smtClean="0"/>
              <a:pPr/>
              <a:t>2</a:t>
            </a:fld>
            <a:endParaRPr lang="en-IN" dirty="0"/>
          </a:p>
        </p:txBody>
      </p:sp>
    </p:spTree>
    <p:extLst>
      <p:ext uri="{BB962C8B-B14F-4D97-AF65-F5344CB8AC3E}">
        <p14:creationId xmlns:p14="http://schemas.microsoft.com/office/powerpoint/2010/main" val="104864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89212" y="450756"/>
            <a:ext cx="8911687" cy="826182"/>
          </a:xfrm>
        </p:spPr>
        <p:txBody>
          <a:bodyPr/>
          <a:lstStyle/>
          <a:p>
            <a:r>
              <a:rPr lang="en-IN" dirty="0"/>
              <a:t>1. Introduction</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5499" y="1255222"/>
            <a:ext cx="8915400" cy="5511338"/>
          </a:xfrm>
        </p:spPr>
        <p:txBody>
          <a:bodyPr>
            <a:normAutofit fontScale="25000" lnSpcReduction="20000"/>
          </a:bodyPr>
          <a:lstStyle/>
          <a:p>
            <a:pPr marL="0" indent="0">
              <a:buNone/>
            </a:pPr>
            <a:r>
              <a:rPr lang="en-IN" sz="8800" dirty="0"/>
              <a:t>1.1 Overview</a:t>
            </a:r>
          </a:p>
          <a:p>
            <a:r>
              <a:rPr lang="en-GB" sz="7200" dirty="0"/>
              <a:t>The system is an AI-powered web application designed to predict plant diseases using symptom analysis provided by farmers. </a:t>
            </a:r>
          </a:p>
          <a:p>
            <a:r>
              <a:rPr lang="en-GB" sz="7200" dirty="0"/>
              <a:t>Users can enter symptoms such as leaf discoloration, spots, wilting, dryness, curling, and fungal infections through a simple interface. </a:t>
            </a:r>
          </a:p>
          <a:p>
            <a:r>
              <a:rPr lang="en-GB" sz="7200" dirty="0"/>
              <a:t>Machine learning algorithms </a:t>
            </a:r>
            <a:r>
              <a:rPr lang="en-GB" sz="7200" dirty="0" err="1"/>
              <a:t>analyze</a:t>
            </a:r>
            <a:r>
              <a:rPr lang="en-GB" sz="7200" dirty="0"/>
              <a:t> the symptoms and predict the most probable disease affecting the plant. </a:t>
            </a:r>
          </a:p>
          <a:p>
            <a:r>
              <a:rPr lang="en-GB" sz="7200" dirty="0"/>
              <a:t>The system displays the predicted disease, confidence score, and basic preventive measures to support timely decision-making. </a:t>
            </a:r>
          </a:p>
          <a:p>
            <a:pPr marL="457200" lvl="1" indent="0">
              <a:buNone/>
            </a:pPr>
            <a:endParaRPr lang="en-IN" dirty="0"/>
          </a:p>
          <a:p>
            <a:pPr marL="0" indent="0">
              <a:buNone/>
            </a:pPr>
            <a:r>
              <a:rPr lang="en-US" sz="8800" dirty="0">
                <a:solidFill>
                  <a:srgbClr val="000000"/>
                </a:solidFill>
                <a:latin typeface="Times New Roman" panose="02020603050405020304" pitchFamily="18" charset="0"/>
              </a:rPr>
              <a:t>1.2 Purpose</a:t>
            </a:r>
          </a:p>
          <a:p>
            <a:r>
              <a:rPr lang="en-GB" sz="7200" dirty="0"/>
              <a:t>To enable early detection of plant diseases and minimize crop damage. </a:t>
            </a:r>
          </a:p>
          <a:p>
            <a:r>
              <a:rPr lang="en-GB" sz="7200" dirty="0"/>
              <a:t>To provide farmers with quick and accessible disease prediction without depending entirely on agricultural experts. </a:t>
            </a:r>
          </a:p>
          <a:p>
            <a:r>
              <a:rPr lang="en-GB" sz="7200" dirty="0"/>
              <a:t>To reduce crop losses and improve agricultural productivity through timely diagnosis and treatment suggestions. </a:t>
            </a:r>
          </a:p>
          <a:p>
            <a:r>
              <a:rPr lang="en-GB" sz="7200" dirty="0"/>
              <a:t>To promote the use of AI-based agricultural technologies that are affordable, user-friendly, and suitable for rural farming communities. </a:t>
            </a:r>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3</a:t>
            </a:fld>
            <a:endParaRPr lang="en-IN" dirty="0"/>
          </a:p>
        </p:txBody>
      </p:sp>
    </p:spTree>
    <p:extLst>
      <p:ext uri="{BB962C8B-B14F-4D97-AF65-F5344CB8AC3E}">
        <p14:creationId xmlns:p14="http://schemas.microsoft.com/office/powerpoint/2010/main" val="4021755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81786" y="467657"/>
            <a:ext cx="8911687" cy="1280890"/>
          </a:xfrm>
        </p:spPr>
        <p:txBody>
          <a:bodyPr/>
          <a:lstStyle/>
          <a:p>
            <a:r>
              <a:rPr lang="en-IN" dirty="0"/>
              <a:t>2. Literature Review</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1786" y="1307607"/>
            <a:ext cx="8915400" cy="4641795"/>
          </a:xfrm>
        </p:spPr>
        <p:txBody>
          <a:bodyPr/>
          <a:lstStyle/>
          <a:p>
            <a:r>
              <a:rPr lang="en-GB" dirty="0"/>
              <a:t>Existing plant disease detection systems mainly focus on image-based diagnosis and require expert supervision or high-quality images. Many solutions lack symptom-based analysis, making them less accessible for farmers in rural areas.</a:t>
            </a: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4</a:t>
            </a:fld>
            <a:endParaRPr lang="en-IN" dirty="0"/>
          </a:p>
        </p:txBody>
      </p:sp>
      <p:graphicFrame>
        <p:nvGraphicFramePr>
          <p:cNvPr id="5" name="Table 4">
            <a:extLst>
              <a:ext uri="{FF2B5EF4-FFF2-40B4-BE49-F238E27FC236}">
                <a16:creationId xmlns:a16="http://schemas.microsoft.com/office/drawing/2014/main" id="{4D486EC0-E04D-95E7-B43B-C60E6CC60E85}"/>
              </a:ext>
            </a:extLst>
          </p:cNvPr>
          <p:cNvGraphicFramePr>
            <a:graphicFrameLocks noGrp="1"/>
          </p:cNvGraphicFramePr>
          <p:nvPr>
            <p:extLst>
              <p:ext uri="{D42A27DB-BD31-4B8C-83A1-F6EECF244321}">
                <p14:modId xmlns:p14="http://schemas.microsoft.com/office/powerpoint/2010/main" val="2394460183"/>
              </p:ext>
            </p:extLst>
          </p:nvPr>
        </p:nvGraphicFramePr>
        <p:xfrm>
          <a:off x="2630033" y="3232757"/>
          <a:ext cx="9028304" cy="2911021"/>
        </p:xfrm>
        <a:graphic>
          <a:graphicData uri="http://schemas.openxmlformats.org/drawingml/2006/table">
            <a:tbl>
              <a:tblPr firstRow="1" bandRow="1">
                <a:tableStyleId>{5C22544A-7EE6-4342-B048-85BDC9FD1C3A}</a:tableStyleId>
              </a:tblPr>
              <a:tblGrid>
                <a:gridCol w="1032856">
                  <a:extLst>
                    <a:ext uri="{9D8B030D-6E8A-4147-A177-3AD203B41FA5}">
                      <a16:colId xmlns:a16="http://schemas.microsoft.com/office/drawing/2014/main" val="3061002685"/>
                    </a:ext>
                  </a:extLst>
                </a:gridCol>
                <a:gridCol w="3121245">
                  <a:extLst>
                    <a:ext uri="{9D8B030D-6E8A-4147-A177-3AD203B41FA5}">
                      <a16:colId xmlns:a16="http://schemas.microsoft.com/office/drawing/2014/main" val="3308928935"/>
                    </a:ext>
                  </a:extLst>
                </a:gridCol>
                <a:gridCol w="2617127">
                  <a:extLst>
                    <a:ext uri="{9D8B030D-6E8A-4147-A177-3AD203B41FA5}">
                      <a16:colId xmlns:a16="http://schemas.microsoft.com/office/drawing/2014/main" val="3184326738"/>
                    </a:ext>
                  </a:extLst>
                </a:gridCol>
                <a:gridCol w="2257076">
                  <a:extLst>
                    <a:ext uri="{9D8B030D-6E8A-4147-A177-3AD203B41FA5}">
                      <a16:colId xmlns:a16="http://schemas.microsoft.com/office/drawing/2014/main" val="3980447352"/>
                    </a:ext>
                  </a:extLst>
                </a:gridCol>
              </a:tblGrid>
              <a:tr h="755582">
                <a:tc>
                  <a:txBody>
                    <a:bodyPr/>
                    <a:lstStyle/>
                    <a:p>
                      <a:pPr algn="ctr"/>
                      <a:r>
                        <a:rPr lang="en-IN" dirty="0"/>
                        <a:t>Sr. No.</a:t>
                      </a:r>
                    </a:p>
                  </a:txBody>
                  <a:tcPr/>
                </a:tc>
                <a:tc>
                  <a:txBody>
                    <a:bodyPr/>
                    <a:lstStyle/>
                    <a:p>
                      <a:pPr algn="ctr"/>
                      <a:r>
                        <a:rPr lang="en-IN" dirty="0"/>
                        <a:t>Name of Solution/System</a:t>
                      </a:r>
                    </a:p>
                  </a:txBody>
                  <a:tcPr/>
                </a:tc>
                <a:tc>
                  <a:txBody>
                    <a:bodyPr/>
                    <a:lstStyle/>
                    <a:p>
                      <a:pPr algn="ctr"/>
                      <a:r>
                        <a:rPr lang="en-IN" dirty="0"/>
                        <a:t>Features</a:t>
                      </a:r>
                    </a:p>
                  </a:txBody>
                  <a:tcPr/>
                </a:tc>
                <a:tc>
                  <a:txBody>
                    <a:bodyPr/>
                    <a:lstStyle/>
                    <a:p>
                      <a:pPr algn="ctr"/>
                      <a:r>
                        <a:rPr lang="en-IN" dirty="0"/>
                        <a:t>Limitations/</a:t>
                      </a:r>
                    </a:p>
                    <a:p>
                      <a:pPr algn="ctr"/>
                      <a:r>
                        <a:rPr lang="en-IN" dirty="0"/>
                        <a:t>Drawbacks</a:t>
                      </a:r>
                    </a:p>
                  </a:txBody>
                  <a:tcPr/>
                </a:tc>
                <a:extLst>
                  <a:ext uri="{0D108BD9-81ED-4DB2-BD59-A6C34878D82A}">
                    <a16:rowId xmlns:a16="http://schemas.microsoft.com/office/drawing/2014/main" val="4291405766"/>
                  </a:ext>
                </a:extLst>
              </a:tr>
              <a:tr h="1218291">
                <a:tc>
                  <a:txBody>
                    <a:bodyPr/>
                    <a:lstStyle/>
                    <a:p>
                      <a:pPr algn="ctr"/>
                      <a:r>
                        <a:rPr lang="en-IN" dirty="0"/>
                        <a:t>1.</a:t>
                      </a:r>
                    </a:p>
                  </a:txBody>
                  <a:tcPr/>
                </a:tc>
                <a:tc>
                  <a:txBody>
                    <a:bodyPr/>
                    <a:lstStyle/>
                    <a:p>
                      <a:pPr algn="ctr"/>
                      <a:r>
                        <a:rPr lang="en-GB" dirty="0" err="1"/>
                        <a:t>Plantix</a:t>
                      </a:r>
                      <a:endParaRPr lang="en-IN" dirty="0"/>
                    </a:p>
                  </a:txBody>
                  <a:tcPr/>
                </a:tc>
                <a:tc>
                  <a:txBody>
                    <a:bodyPr/>
                    <a:lstStyle/>
                    <a:p>
                      <a:pPr algn="ctr"/>
                      <a:r>
                        <a:rPr lang="en-IN"/>
                        <a:t>Disease Detection using images and crop information</a:t>
                      </a:r>
                      <a:endParaRPr lang="en-IN" dirty="0"/>
                    </a:p>
                  </a:txBody>
                  <a:tcPr/>
                </a:tc>
                <a:tc>
                  <a:txBody>
                    <a:bodyPr/>
                    <a:lstStyle/>
                    <a:p>
                      <a:pPr algn="ctr"/>
                      <a:r>
                        <a:rPr lang="en-GB" dirty="0"/>
                        <a:t>Requires clear images and internet connectivity</a:t>
                      </a:r>
                      <a:endParaRPr lang="en-IN" dirty="0"/>
                    </a:p>
                  </a:txBody>
                  <a:tcPr/>
                </a:tc>
                <a:extLst>
                  <a:ext uri="{0D108BD9-81ED-4DB2-BD59-A6C34878D82A}">
                    <a16:rowId xmlns:a16="http://schemas.microsoft.com/office/drawing/2014/main" val="2750208946"/>
                  </a:ext>
                </a:extLst>
              </a:tr>
              <a:tr h="937148">
                <a:tc>
                  <a:txBody>
                    <a:bodyPr/>
                    <a:lstStyle/>
                    <a:p>
                      <a:pPr algn="ctr"/>
                      <a:r>
                        <a:rPr lang="en-IN" dirty="0"/>
                        <a:t>2.</a:t>
                      </a:r>
                    </a:p>
                  </a:txBody>
                  <a:tcPr/>
                </a:tc>
                <a:tc>
                  <a:txBody>
                    <a:bodyPr/>
                    <a:lstStyle/>
                    <a:p>
                      <a:pPr algn="ctr"/>
                      <a:r>
                        <a:rPr lang="en-GB" dirty="0"/>
                        <a:t>Leaf Doctor</a:t>
                      </a:r>
                      <a:endParaRPr lang="en-IN" dirty="0"/>
                    </a:p>
                  </a:txBody>
                  <a:tcPr/>
                </a:tc>
                <a:tc>
                  <a:txBody>
                    <a:bodyPr/>
                    <a:lstStyle/>
                    <a:p>
                      <a:pPr algn="ctr"/>
                      <a:r>
                        <a:rPr lang="en-GB" dirty="0"/>
                        <a:t>Plant health analysis through leaf images</a:t>
                      </a:r>
                      <a:endParaRPr lang="en-IN" dirty="0"/>
                    </a:p>
                  </a:txBody>
                  <a:tcPr/>
                </a:tc>
                <a:tc>
                  <a:txBody>
                    <a:bodyPr/>
                    <a:lstStyle/>
                    <a:p>
                      <a:pPr algn="ctr"/>
                      <a:r>
                        <a:rPr lang="en-GB" dirty="0"/>
                        <a:t>Limited symptom-based prediction support</a:t>
                      </a:r>
                      <a:r>
                        <a:rPr lang="en-US" dirty="0"/>
                        <a:t> </a:t>
                      </a:r>
                      <a:endParaRPr lang="en-IN" dirty="0"/>
                    </a:p>
                  </a:txBody>
                  <a:tcPr/>
                </a:tc>
                <a:extLst>
                  <a:ext uri="{0D108BD9-81ED-4DB2-BD59-A6C34878D82A}">
                    <a16:rowId xmlns:a16="http://schemas.microsoft.com/office/drawing/2014/main" val="2850866531"/>
                  </a:ext>
                </a:extLst>
              </a:tr>
            </a:tbl>
          </a:graphicData>
        </a:graphic>
      </p:graphicFrame>
    </p:spTree>
    <p:extLst>
      <p:ext uri="{BB962C8B-B14F-4D97-AF65-F5344CB8AC3E}">
        <p14:creationId xmlns:p14="http://schemas.microsoft.com/office/powerpoint/2010/main" val="18856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437663" y="404300"/>
            <a:ext cx="8911687" cy="780741"/>
          </a:xfrm>
        </p:spPr>
        <p:txBody>
          <a:bodyPr/>
          <a:lstStyle/>
          <a:p>
            <a:r>
              <a:rPr lang="en-IN" dirty="0"/>
              <a:t>3. Problem Statement</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437663" y="1579959"/>
            <a:ext cx="8915400" cy="4363278"/>
          </a:xfrm>
        </p:spPr>
        <p:txBody>
          <a:bodyPr>
            <a:normAutofit lnSpcReduction="10000"/>
          </a:bodyPr>
          <a:lstStyle/>
          <a:p>
            <a:r>
              <a:rPr lang="en-GB" dirty="0"/>
              <a:t>Based on the literature review, existing plant disease detection systems primarily rely on image-based analysis and often require high-quality images, continuous internet connectivity, or expert assistance for accurate diagnosis. These limitations make such systems less effective for farmers in rural and remote areas. Additionally, current solutions provide limited support for symptom-based disease prediction, resulting in delayed identification and treatment of plant diseases. Therefore, there is a need to develop an AI-based Plant Disease Prediction System that can accurately identify diseases using symptom analysis, provide quick preliminary diagnosis, and assist farmers in taking timely preventive measures to reduce crop losses and improve agricultural productivity.</a:t>
            </a:r>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5</a:t>
            </a:fld>
            <a:endParaRPr lang="en-IN" dirty="0"/>
          </a:p>
        </p:txBody>
      </p:sp>
    </p:spTree>
    <p:extLst>
      <p:ext uri="{BB962C8B-B14F-4D97-AF65-F5344CB8AC3E}">
        <p14:creationId xmlns:p14="http://schemas.microsoft.com/office/powerpoint/2010/main" val="288595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271760" y="446236"/>
            <a:ext cx="8911687" cy="850100"/>
          </a:xfrm>
        </p:spPr>
        <p:txBody>
          <a:bodyPr/>
          <a:lstStyle/>
          <a:p>
            <a:r>
              <a:rPr lang="en-IN" dirty="0"/>
              <a:t>4. Proposed Solution</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271760" y="1430461"/>
            <a:ext cx="9566227" cy="4773569"/>
          </a:xfrm>
        </p:spPr>
        <p:txBody>
          <a:bodyPr>
            <a:normAutofit/>
          </a:bodyPr>
          <a:lstStyle/>
          <a:p>
            <a:r>
              <a:rPr lang="en-IN" dirty="0"/>
              <a:t> </a:t>
            </a:r>
            <a:r>
              <a:rPr lang="en-US" altLang="en-US" dirty="0">
                <a:solidFill>
                  <a:schemeClr val="tx1"/>
                </a:solidFill>
              </a:rPr>
              <a:t>Develop an </a:t>
            </a:r>
            <a:r>
              <a:rPr lang="en-US" altLang="en-US" b="1" dirty="0">
                <a:solidFill>
                  <a:schemeClr val="tx1"/>
                </a:solidFill>
              </a:rPr>
              <a:t>AI-based web application</a:t>
            </a:r>
            <a:r>
              <a:rPr lang="en-US" altLang="en-US" dirty="0">
                <a:solidFill>
                  <a:schemeClr val="tx1"/>
                </a:solidFill>
              </a:rPr>
              <a:t> that predicts plant diseases using symptom analysis. </a:t>
            </a:r>
          </a:p>
          <a:p>
            <a:r>
              <a:rPr lang="en-US" altLang="en-US" dirty="0">
                <a:solidFill>
                  <a:schemeClr val="tx1"/>
                </a:solidFill>
              </a:rPr>
              <a:t>Allow farmers to enter symptoms such as leaf discoloration, spots, wilting, dryness, curling, and fungal infections through a simple user interface. </a:t>
            </a:r>
          </a:p>
          <a:p>
            <a:r>
              <a:rPr lang="en-US" altLang="en-US" dirty="0">
                <a:solidFill>
                  <a:schemeClr val="tx1"/>
                </a:solidFill>
              </a:rPr>
              <a:t>Use </a:t>
            </a:r>
            <a:r>
              <a:rPr lang="en-US" altLang="en-US" b="1" dirty="0">
                <a:solidFill>
                  <a:schemeClr val="tx1"/>
                </a:solidFill>
              </a:rPr>
              <a:t>Machine Learning algorithms</a:t>
            </a:r>
            <a:r>
              <a:rPr lang="en-US" altLang="en-US" dirty="0">
                <a:solidFill>
                  <a:schemeClr val="tx1"/>
                </a:solidFill>
              </a:rPr>
              <a:t> trained on plant disease datasets to analyze symptoms and identify the most probable disease. </a:t>
            </a:r>
          </a:p>
          <a:p>
            <a:r>
              <a:rPr lang="en-US" altLang="en-US" dirty="0">
                <a:solidFill>
                  <a:schemeClr val="tx1"/>
                </a:solidFill>
              </a:rPr>
              <a:t>Provide </a:t>
            </a:r>
            <a:r>
              <a:rPr lang="en-US" altLang="en-US" b="1" dirty="0">
                <a:solidFill>
                  <a:schemeClr val="tx1"/>
                </a:solidFill>
              </a:rPr>
              <a:t>real-time disease prediction</a:t>
            </a:r>
            <a:r>
              <a:rPr lang="en-US" altLang="en-US" dirty="0">
                <a:solidFill>
                  <a:schemeClr val="tx1"/>
                </a:solidFill>
              </a:rPr>
              <a:t>, confidence score, and preventive measures for early treatment. </a:t>
            </a:r>
          </a:p>
          <a:p>
            <a:r>
              <a:rPr lang="en-US" altLang="en-US" dirty="0">
                <a:solidFill>
                  <a:schemeClr val="tx1"/>
                </a:solidFill>
              </a:rPr>
              <a:t>Reduce dependency on agricultural experts and enable quick preliminary diagnosis in rural areas. </a:t>
            </a:r>
          </a:p>
          <a:p>
            <a:endParaRPr lang="en-US" altLang="en-US" sz="2600" dirty="0">
              <a:solidFill>
                <a:schemeClr val="tx1"/>
              </a:solidFill>
            </a:endParaRPr>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6</a:t>
            </a:fld>
            <a:endParaRPr lang="en-IN" dirty="0"/>
          </a:p>
        </p:txBody>
      </p:sp>
      <p:sp>
        <p:nvSpPr>
          <p:cNvPr id="10" name="Rectangle 6">
            <a:extLst>
              <a:ext uri="{FF2B5EF4-FFF2-40B4-BE49-F238E27FC236}">
                <a16:creationId xmlns:a16="http://schemas.microsoft.com/office/drawing/2014/main" id="{12AE7BA6-392D-4DE3-8342-05743BE07B64}"/>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116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p:txBody>
          <a:bodyPr/>
          <a:lstStyle/>
          <a:p>
            <a:r>
              <a:rPr lang="en-IN" dirty="0"/>
              <a:t>5. Objectives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639957"/>
            <a:ext cx="8915400" cy="3688501"/>
          </a:xfrm>
        </p:spPr>
        <p:txBody>
          <a:bodyPr/>
          <a:lstStyle/>
          <a:p>
            <a:pPr lvl="0"/>
            <a:r>
              <a:rPr lang="en-US" dirty="0"/>
              <a:t>To develop a web-based plant disease prediction system using AI techniques.</a:t>
            </a:r>
            <a:endParaRPr lang="en-GB" dirty="0"/>
          </a:p>
          <a:p>
            <a:pPr lvl="0"/>
            <a:r>
              <a:rPr lang="en-US" dirty="0"/>
              <a:t>To predict selected plant diseases using symptom analysis.</a:t>
            </a:r>
            <a:endParaRPr lang="en-GB" dirty="0"/>
          </a:p>
          <a:p>
            <a:pPr lvl="0"/>
            <a:r>
              <a:rPr lang="en-US" dirty="0"/>
              <a:t>To improve prediction accuracy using machine learning algorithms.</a:t>
            </a:r>
            <a:endParaRPr lang="en-GB" dirty="0"/>
          </a:p>
          <a:p>
            <a:pPr lvl="0"/>
            <a:r>
              <a:rPr lang="en-US" dirty="0"/>
              <a:t>To provide preliminary disease information and preventive suggestions to farmers.</a:t>
            </a:r>
            <a:endParaRPr lang="en-GB" dirty="0"/>
          </a:p>
          <a:p>
            <a:pPr marL="0" indent="0">
              <a:buNone/>
            </a:pP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7</a:t>
            </a:fld>
            <a:endParaRPr lang="en-IN" dirty="0"/>
          </a:p>
        </p:txBody>
      </p:sp>
    </p:spTree>
    <p:extLst>
      <p:ext uri="{BB962C8B-B14F-4D97-AF65-F5344CB8AC3E}">
        <p14:creationId xmlns:p14="http://schemas.microsoft.com/office/powerpoint/2010/main" val="870974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92925" y="624110"/>
            <a:ext cx="8911687" cy="813992"/>
          </a:xfrm>
        </p:spPr>
        <p:txBody>
          <a:bodyPr/>
          <a:lstStyle/>
          <a:p>
            <a:r>
              <a:rPr lang="en-IN" dirty="0"/>
              <a:t>6. Theoretical Analysis</a:t>
            </a:r>
          </a:p>
        </p:txBody>
      </p:sp>
      <p:pic>
        <p:nvPicPr>
          <p:cNvPr id="7" name="Content Placeholder 6">
            <a:extLst>
              <a:ext uri="{FF2B5EF4-FFF2-40B4-BE49-F238E27FC236}">
                <a16:creationId xmlns:a16="http://schemas.microsoft.com/office/drawing/2014/main" id="{CCED5123-976C-44A4-B6B7-21AD6E7DCF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4" y="1817955"/>
            <a:ext cx="8911687" cy="4020111"/>
          </a:xfrm>
        </p:spPr>
      </p:pic>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8</a:t>
            </a:fld>
            <a:endParaRPr lang="en-IN" dirty="0"/>
          </a:p>
        </p:txBody>
      </p:sp>
    </p:spTree>
    <p:extLst>
      <p:ext uri="{BB962C8B-B14F-4D97-AF65-F5344CB8AC3E}">
        <p14:creationId xmlns:p14="http://schemas.microsoft.com/office/powerpoint/2010/main" val="3917225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92924" y="449543"/>
            <a:ext cx="8911687" cy="1280890"/>
          </a:xfrm>
        </p:spPr>
        <p:txBody>
          <a:bodyPr/>
          <a:lstStyle/>
          <a:p>
            <a:r>
              <a:rPr lang="en-IN" dirty="0"/>
              <a:t>6. Theoretical Analysis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92924" y="1264555"/>
            <a:ext cx="8911688" cy="5780567"/>
          </a:xfrm>
        </p:spPr>
        <p:txBody>
          <a:bodyPr>
            <a:normAutofit fontScale="85000" lnSpcReduction="10000"/>
          </a:bodyPr>
          <a:lstStyle/>
          <a:p>
            <a:pPr marL="0" indent="0">
              <a:buNone/>
            </a:pPr>
            <a:r>
              <a:rPr lang="en-IN" sz="2600" dirty="0"/>
              <a:t>6.2 Hardware Requirements</a:t>
            </a:r>
          </a:p>
          <a:p>
            <a:r>
              <a:rPr lang="en-GB" sz="2600" dirty="0"/>
              <a:t>Computer/Laptop with minimum </a:t>
            </a:r>
            <a:r>
              <a:rPr lang="en-GB" sz="2600" b="1" dirty="0"/>
              <a:t>4GB RAM</a:t>
            </a:r>
            <a:r>
              <a:rPr lang="en-GB" sz="2600" dirty="0"/>
              <a:t> and dual-core processor</a:t>
            </a:r>
          </a:p>
          <a:p>
            <a:r>
              <a:rPr lang="en-GB" sz="2600" dirty="0"/>
              <a:t>Stable internet connection for accessing datasets and web application</a:t>
            </a:r>
          </a:p>
          <a:p>
            <a:r>
              <a:rPr lang="en-GB" sz="2600" dirty="0"/>
              <a:t>Storage (at least </a:t>
            </a:r>
            <a:r>
              <a:rPr lang="en-GB" sz="2600" b="1" dirty="0"/>
              <a:t>20GB free space</a:t>
            </a:r>
            <a:r>
              <a:rPr lang="en-GB" sz="2600" dirty="0"/>
              <a:t>) for project files, datasets, and database</a:t>
            </a:r>
          </a:p>
          <a:p>
            <a:r>
              <a:rPr lang="en-GB" sz="2600" dirty="0"/>
              <a:t>Camera/Smartphone (optional) for capturing plant images and symptoms</a:t>
            </a:r>
          </a:p>
          <a:p>
            <a:pPr marL="0" indent="0">
              <a:buNone/>
            </a:pPr>
            <a:r>
              <a:rPr lang="en-IN" sz="2600" dirty="0"/>
              <a:t>6.3 Software Requirements</a:t>
            </a:r>
          </a:p>
          <a:p>
            <a:r>
              <a:rPr lang="en-GB" sz="2600" b="1" dirty="0"/>
              <a:t>Operating System:</a:t>
            </a:r>
            <a:r>
              <a:rPr lang="en-GB" sz="2600" dirty="0"/>
              <a:t> Windows / Linux / macOS</a:t>
            </a:r>
          </a:p>
          <a:p>
            <a:r>
              <a:rPr lang="en-GB" sz="2600" b="1" dirty="0"/>
              <a:t>Frontend:</a:t>
            </a:r>
            <a:r>
              <a:rPr lang="en-GB" sz="2600" dirty="0"/>
              <a:t> HTML, CSS, JavaScript</a:t>
            </a:r>
          </a:p>
          <a:p>
            <a:r>
              <a:rPr lang="en-GB" sz="2600" b="1" dirty="0"/>
              <a:t>Backend:</a:t>
            </a:r>
            <a:r>
              <a:rPr lang="en-GB" sz="2600" dirty="0"/>
              <a:t> Python (Flask)</a:t>
            </a:r>
          </a:p>
          <a:p>
            <a:r>
              <a:rPr lang="en-GB" sz="2600" b="1" dirty="0"/>
              <a:t>Database:</a:t>
            </a:r>
            <a:r>
              <a:rPr lang="en-GB" sz="2600" dirty="0"/>
              <a:t> MySQL / Firebase</a:t>
            </a:r>
          </a:p>
          <a:p>
            <a:r>
              <a:rPr lang="en-GB" sz="2600" b="1" dirty="0"/>
              <a:t>Machine Learning Libraries:</a:t>
            </a:r>
            <a:r>
              <a:rPr lang="en-GB" sz="2600" dirty="0"/>
              <a:t> </a:t>
            </a:r>
            <a:r>
              <a:rPr lang="en-GB" sz="2600" dirty="0" err="1"/>
              <a:t>Scikit</a:t>
            </a:r>
            <a:r>
              <a:rPr lang="en-GB" sz="2600" dirty="0"/>
              <a:t>-learn, Pandas, NumPy</a:t>
            </a:r>
          </a:p>
          <a:p>
            <a:r>
              <a:rPr lang="en-GB" sz="2600" b="1" dirty="0"/>
              <a:t>Development Tools:</a:t>
            </a:r>
            <a:r>
              <a:rPr lang="en-GB" sz="2600" dirty="0"/>
              <a:t> VS Code, </a:t>
            </a:r>
            <a:r>
              <a:rPr lang="en-GB" sz="2600" dirty="0" err="1"/>
              <a:t>Jupyter</a:t>
            </a:r>
            <a:r>
              <a:rPr lang="en-GB" sz="2600" dirty="0"/>
              <a:t> Notebook</a:t>
            </a:r>
          </a:p>
          <a:p>
            <a:r>
              <a:rPr lang="en-GB" sz="2600" b="1" dirty="0"/>
              <a:t>Version Control:</a:t>
            </a:r>
            <a:r>
              <a:rPr lang="en-GB" sz="2600" dirty="0"/>
              <a:t> Git &amp; GitHub</a:t>
            </a:r>
          </a:p>
          <a:p>
            <a:pPr marL="0" indent="0">
              <a:buNone/>
            </a:pP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9</a:t>
            </a:fld>
            <a:endParaRPr lang="en-IN" dirty="0"/>
          </a:p>
        </p:txBody>
      </p:sp>
    </p:spTree>
    <p:extLst>
      <p:ext uri="{BB962C8B-B14F-4D97-AF65-F5344CB8AC3E}">
        <p14:creationId xmlns:p14="http://schemas.microsoft.com/office/powerpoint/2010/main" val="3488500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82333" y="582785"/>
            <a:ext cx="8947679" cy="822682"/>
          </a:xfrm>
        </p:spPr>
        <p:txBody>
          <a:bodyPr/>
          <a:lstStyle/>
          <a:p>
            <a:r>
              <a:rPr lang="en-IN" dirty="0"/>
              <a:t>Applications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2333" y="1405467"/>
            <a:ext cx="9127067" cy="4775200"/>
          </a:xfrm>
        </p:spPr>
        <p:txBody>
          <a:bodyPr>
            <a:normAutofit lnSpcReduction="10000"/>
          </a:bodyPr>
          <a:lstStyle/>
          <a:p>
            <a:r>
              <a:rPr lang="en-GB" b="1" dirty="0"/>
              <a:t>Smart Agriculture</a:t>
            </a:r>
            <a:br>
              <a:rPr lang="en-GB" dirty="0"/>
            </a:br>
            <a:r>
              <a:rPr lang="en-GB" dirty="0"/>
              <a:t>Helps farmers identify plant diseases early and take timely preventive measures to improve crop health.</a:t>
            </a:r>
          </a:p>
          <a:p>
            <a:r>
              <a:rPr lang="en-GB" b="1" dirty="0"/>
              <a:t>Crop Health Monitoring</a:t>
            </a:r>
            <a:br>
              <a:rPr lang="en-GB" dirty="0"/>
            </a:br>
            <a:r>
              <a:rPr lang="en-GB" dirty="0"/>
              <a:t>Continuously monitors plant conditions and predicts possible diseases based on observed symptoms.</a:t>
            </a:r>
          </a:p>
          <a:p>
            <a:r>
              <a:rPr lang="en-GB" b="1" dirty="0"/>
              <a:t>Rural Farming Assistance</a:t>
            </a:r>
            <a:br>
              <a:rPr lang="en-GB" dirty="0"/>
            </a:br>
            <a:r>
              <a:rPr lang="en-GB" dirty="0"/>
              <a:t>Provides accessible disease prediction support to farmers in remote areas where agricultural experts may not be readily available.</a:t>
            </a:r>
          </a:p>
          <a:p>
            <a:r>
              <a:rPr lang="en-GB" b="1" dirty="0"/>
              <a:t>Agricultural Research &amp; Development</a:t>
            </a:r>
            <a:br>
              <a:rPr lang="en-GB" dirty="0"/>
            </a:br>
            <a:r>
              <a:rPr lang="en-GB" dirty="0"/>
              <a:t>Assists researchers and agricultural organizations in studying disease patterns and improving disease management strategies.</a:t>
            </a:r>
            <a:endParaRPr lang="en-IN"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10</a:t>
            </a:fld>
            <a:endParaRPr lang="en-IN" dirty="0"/>
          </a:p>
        </p:txBody>
      </p:sp>
    </p:spTree>
    <p:extLst>
      <p:ext uri="{BB962C8B-B14F-4D97-AF65-F5344CB8AC3E}">
        <p14:creationId xmlns:p14="http://schemas.microsoft.com/office/powerpoint/2010/main" val="2061340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p:txBody>
          <a:bodyPr/>
          <a:lstStyle/>
          <a:p>
            <a:r>
              <a:rPr lang="en-IN" dirty="0"/>
              <a:t>GitHub Link</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589212" y="1639957"/>
            <a:ext cx="9247188" cy="1280890"/>
          </a:xfrm>
        </p:spPr>
        <p:txBody>
          <a:bodyPr/>
          <a:lstStyle/>
          <a:p>
            <a:r>
              <a:rPr lang="en-US" dirty="0"/>
              <a:t>https://github.com/sudarshanr04/EARLY-DISEASE-DETECTION.git</a:t>
            </a:r>
            <a:endParaRPr lang="en-IN"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11</a:t>
            </a:fld>
            <a:endParaRPr lang="en-IN" dirty="0"/>
          </a:p>
        </p:txBody>
      </p:sp>
    </p:spTree>
    <p:extLst>
      <p:ext uri="{BB962C8B-B14F-4D97-AF65-F5344CB8AC3E}">
        <p14:creationId xmlns:p14="http://schemas.microsoft.com/office/powerpoint/2010/main" val="21083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176237" y="543087"/>
            <a:ext cx="8911687" cy="1280890"/>
          </a:xfrm>
        </p:spPr>
        <p:txBody>
          <a:bodyPr/>
          <a:lstStyle/>
          <a:p>
            <a:r>
              <a:rPr lang="en-IN" dirty="0"/>
              <a:t>REFERENCES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523702" y="1242087"/>
            <a:ext cx="11668298" cy="5615913"/>
          </a:xfrm>
        </p:spPr>
        <p:txBody>
          <a:bodyPr>
            <a:noAutofit/>
          </a:bodyPr>
          <a:lstStyle/>
          <a:p>
            <a:r>
              <a:rPr lang="en-US" sz="1300" dirty="0"/>
              <a:t>[1] Mohanty, S.P., Hughes, D.P., </a:t>
            </a:r>
            <a:r>
              <a:rPr lang="en-US" sz="1300" dirty="0" err="1"/>
              <a:t>Salathé</a:t>
            </a:r>
            <a:r>
              <a:rPr lang="en-US" sz="1300" dirty="0"/>
              <a:t>, M. (2016). "Using Deep Learning for Image-Based Plant Disease Detection." Frontiers in Plant Science.</a:t>
            </a:r>
            <a:endParaRPr lang="en-GB" sz="1300" dirty="0"/>
          </a:p>
          <a:p>
            <a:r>
              <a:rPr lang="en-US" sz="1300" dirty="0"/>
              <a:t>[2] Too, E.C. et al. (2019). "A Comparative Study of Fine-Tuning Deep Learning Models for Plant Disease Identification." Computers and Electronics in Agriculture.</a:t>
            </a:r>
            <a:endParaRPr lang="en-GB" sz="1300" dirty="0"/>
          </a:p>
          <a:p>
            <a:r>
              <a:rPr lang="en-US" sz="1300" dirty="0"/>
              <a:t>[3] TensorFlow Official Documentation. Available: https://www.tensorflow.org</a:t>
            </a:r>
            <a:endParaRPr lang="en-GB" sz="1300" dirty="0"/>
          </a:p>
          <a:p>
            <a:r>
              <a:rPr lang="en-US" sz="1300" dirty="0"/>
              <a:t>[4] OpenCV Documentation. Available: https://docs.opencv.org</a:t>
            </a:r>
            <a:endParaRPr lang="en-GB" sz="1300" dirty="0"/>
          </a:p>
          <a:p>
            <a:r>
              <a:rPr lang="en-US" sz="1300" dirty="0"/>
              <a:t>[5] </a:t>
            </a:r>
            <a:r>
              <a:rPr lang="en-US" sz="1300" dirty="0" err="1"/>
              <a:t>PlantVillage</a:t>
            </a:r>
            <a:r>
              <a:rPr lang="en-US" sz="1300" dirty="0"/>
              <a:t> Dataset. Available: https://plantvillage.psu.edu</a:t>
            </a:r>
            <a:endParaRPr lang="en-GB" sz="1300" dirty="0"/>
          </a:p>
          <a:p>
            <a:r>
              <a:rPr lang="en-US" sz="1300" dirty="0"/>
              <a:t>[6] Kaggle Plant Disease Datasets. Available: </a:t>
            </a:r>
            <a:r>
              <a:rPr lang="en-US" sz="1300" u="sng" dirty="0">
                <a:hlinkClick r:id="rId3"/>
              </a:rPr>
              <a:t>https://www.kaggle.com/datasets</a:t>
            </a:r>
            <a:endParaRPr lang="en-GB" sz="1300" dirty="0"/>
          </a:p>
          <a:p>
            <a:r>
              <a:rPr lang="en-US" sz="1300" dirty="0"/>
              <a:t>[7] </a:t>
            </a:r>
            <a:r>
              <a:rPr lang="en-US" sz="1300" dirty="0" err="1"/>
              <a:t>Ferentinos</a:t>
            </a:r>
            <a:r>
              <a:rPr lang="en-US" sz="1300" dirty="0"/>
              <a:t>, K.P. (2018). "Deep Learning Models for Plant Disease Detection and Diagnosis." Computers and Electronics in Agriculture.</a:t>
            </a:r>
            <a:endParaRPr lang="en-GB" sz="1300" dirty="0"/>
          </a:p>
          <a:p>
            <a:r>
              <a:rPr lang="en-US" sz="1300" dirty="0"/>
              <a:t>[8] </a:t>
            </a:r>
            <a:r>
              <a:rPr lang="en-US" sz="1300" dirty="0" err="1"/>
              <a:t>Liakos</a:t>
            </a:r>
            <a:r>
              <a:rPr lang="en-US" sz="1300" dirty="0"/>
              <a:t>, K.G., </a:t>
            </a:r>
            <a:r>
              <a:rPr lang="en-US" sz="1300" dirty="0" err="1"/>
              <a:t>Busato</a:t>
            </a:r>
            <a:r>
              <a:rPr lang="en-US" sz="1300" dirty="0"/>
              <a:t>, P., </a:t>
            </a:r>
            <a:r>
              <a:rPr lang="en-US" sz="1300" dirty="0" err="1"/>
              <a:t>Moshou</a:t>
            </a:r>
            <a:r>
              <a:rPr lang="en-US" sz="1300" dirty="0"/>
              <a:t>, D., Pearson, S., </a:t>
            </a:r>
            <a:r>
              <a:rPr lang="en-US" sz="1300" dirty="0" err="1"/>
              <a:t>Bochtis</a:t>
            </a:r>
            <a:r>
              <a:rPr lang="en-US" sz="1300" dirty="0"/>
              <a:t>, D. (2018). "Machine Learning in Agriculture: A Review." Sensors Journal.</a:t>
            </a:r>
            <a:endParaRPr lang="en-GB" sz="1300" dirty="0"/>
          </a:p>
          <a:p>
            <a:r>
              <a:rPr lang="en-US" sz="1300" dirty="0"/>
              <a:t>[9] Ramesh, S., </a:t>
            </a:r>
            <a:r>
              <a:rPr lang="en-US" sz="1300" dirty="0" err="1"/>
              <a:t>Vydeki</a:t>
            </a:r>
            <a:r>
              <a:rPr lang="en-US" sz="1300" dirty="0"/>
              <a:t>, D. (2020). "Recognition and Classification of Paddy Leaf Diseases Using Optimized Deep Neural Network." International Journal of Intelligent Engineering and Systems.</a:t>
            </a:r>
            <a:endParaRPr lang="en-GB" sz="1300" dirty="0"/>
          </a:p>
          <a:p>
            <a:r>
              <a:rPr lang="en-US" sz="1300" dirty="0"/>
              <a:t>[10] Zhang, S., Huang, W., Zhang, C. (2020). "Three-Channel Convolutional Neural Networks for Vegetable Leaf Disease Recognition." Cognitive Systems Research.</a:t>
            </a:r>
            <a:endParaRPr lang="en-GB" sz="1300" dirty="0"/>
          </a:p>
          <a:p>
            <a:r>
              <a:rPr lang="en-US" sz="1300" dirty="0"/>
              <a:t>[11] Kumar, P., Singh, A. (2021). "Symptom-Based Plant Disease Prediction Using Machine Learning Techniques." International Journal of Agricultural Technology.</a:t>
            </a:r>
            <a:endParaRPr lang="en-GB" sz="1300" dirty="0"/>
          </a:p>
          <a:p>
            <a:r>
              <a:rPr lang="en-US" sz="1300" dirty="0"/>
              <a:t>[12] Sharma, R., Patel, H., Verma, D. (2023). "Hybrid CNN Model for Plant Disease Classification." Journal of Artificial Intelligence in Agriculture.</a:t>
            </a:r>
            <a:endParaRPr lang="en-GB" sz="1300" dirty="0"/>
          </a:p>
          <a:p>
            <a:r>
              <a:rPr lang="en-US" sz="1300" dirty="0"/>
              <a:t>[13] Chen, L., Wang, Y., Zhao, H. (2024). "Explainable AI for Plant Disease Detection Systems." IEEE Access.</a:t>
            </a:r>
            <a:endParaRPr lang="en-GB" sz="1300" dirty="0"/>
          </a:p>
          <a:p>
            <a:r>
              <a:rPr lang="en-US" sz="1300" dirty="0"/>
              <a:t>[14] Gupta, R., Jain, M. (2025). "Lightweight AI Models for Mobile Plant Disease Detection." International Journal of Smart Agriculture Systems.</a:t>
            </a:r>
            <a:endParaRPr lang="en-GB" sz="1300" dirty="0"/>
          </a:p>
          <a:p>
            <a:r>
              <a:rPr lang="en-US" sz="1300" dirty="0"/>
              <a:t>[15] FAO. "Digital Technologies in Agriculture and Rural Areas." Available: </a:t>
            </a:r>
            <a:r>
              <a:rPr lang="en-US" sz="1300" u="sng" dirty="0">
                <a:hlinkClick r:id="rId4"/>
              </a:rPr>
              <a:t>https://www.fao.org</a:t>
            </a:r>
            <a:endParaRPr lang="en-GB" sz="1300" dirty="0"/>
          </a:p>
          <a:p>
            <a:r>
              <a:rPr lang="en-US" sz="1300" dirty="0"/>
              <a:t>[16] </a:t>
            </a:r>
            <a:r>
              <a:rPr lang="en-US" sz="1300" dirty="0" err="1"/>
              <a:t>Scikit</a:t>
            </a:r>
            <a:r>
              <a:rPr lang="en-US" sz="1300" dirty="0"/>
              <a:t>-learn Official Documentation. Available: </a:t>
            </a:r>
            <a:r>
              <a:rPr lang="en-US" sz="1300" u="sng" dirty="0">
                <a:hlinkClick r:id="rId5"/>
              </a:rPr>
              <a:t>https://scikit-learn.org</a:t>
            </a:r>
            <a:endParaRPr lang="en-GB" sz="1300"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12</a:t>
            </a:fld>
            <a:endParaRPr lang="en-IN" dirty="0"/>
          </a:p>
        </p:txBody>
      </p:sp>
    </p:spTree>
    <p:extLst>
      <p:ext uri="{BB962C8B-B14F-4D97-AF65-F5344CB8AC3E}">
        <p14:creationId xmlns:p14="http://schemas.microsoft.com/office/powerpoint/2010/main" val="334970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65038-74F4-BFA9-7BB7-A3BBAFBCF2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48E571-788C-E54B-B080-EEB4F50A852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E81C9646-E93C-1967-B61B-316EFA0573BF}"/>
              </a:ext>
            </a:extLst>
          </p:cNvPr>
          <p:cNvSpPr>
            <a:spLocks noGrp="1"/>
          </p:cNvSpPr>
          <p:nvPr>
            <p:ph type="sldNum" sz="quarter" idx="12"/>
          </p:nvPr>
        </p:nvSpPr>
        <p:spPr/>
        <p:txBody>
          <a:bodyPr/>
          <a:lstStyle/>
          <a:p>
            <a:fld id="{A575ECA5-96F4-415B-9B7B-F5BEE4B08E09}" type="slidenum">
              <a:rPr lang="en-IN" smtClean="0"/>
              <a:pPr/>
              <a:t>13</a:t>
            </a:fld>
            <a:endParaRPr lang="en-IN" dirty="0"/>
          </a:p>
        </p:txBody>
      </p:sp>
      <p:sp>
        <p:nvSpPr>
          <p:cNvPr id="5" name="Rectangle 4">
            <a:extLst>
              <a:ext uri="{FF2B5EF4-FFF2-40B4-BE49-F238E27FC236}">
                <a16:creationId xmlns:a16="http://schemas.microsoft.com/office/drawing/2014/main" id="{09DA9428-B45B-20BA-B9BF-9EC990C7F486}"/>
              </a:ext>
            </a:extLst>
          </p:cNvPr>
          <p:cNvSpPr/>
          <p:nvPr/>
        </p:nvSpPr>
        <p:spPr>
          <a:xfrm>
            <a:off x="5057618" y="2967335"/>
            <a:ext cx="3647152"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6" name="Rectangle 5">
            <a:extLst>
              <a:ext uri="{FF2B5EF4-FFF2-40B4-BE49-F238E27FC236}">
                <a16:creationId xmlns:a16="http://schemas.microsoft.com/office/drawing/2014/main" id="{EB405D59-04E2-F173-8396-FFBCDFE0262A}"/>
              </a:ext>
            </a:extLst>
          </p:cNvPr>
          <p:cNvSpPr/>
          <p:nvPr/>
        </p:nvSpPr>
        <p:spPr>
          <a:xfrm>
            <a:off x="5310893" y="4262735"/>
            <a:ext cx="2820003"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Queries ?</a:t>
            </a:r>
          </a:p>
        </p:txBody>
      </p:sp>
    </p:spTree>
    <p:extLst>
      <p:ext uri="{BB962C8B-B14F-4D97-AF65-F5344CB8AC3E}">
        <p14:creationId xmlns:p14="http://schemas.microsoft.com/office/powerpoint/2010/main" val="317134107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230</TotalTime>
  <Words>1276</Words>
  <Application>Microsoft Office PowerPoint</Application>
  <PresentationFormat>Widescreen</PresentationFormat>
  <Paragraphs>119</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Century Gothic</vt:lpstr>
      <vt:lpstr>Times New Roman</vt:lpstr>
      <vt:lpstr>Wingdings 3</vt:lpstr>
      <vt:lpstr>Wisp</vt:lpstr>
      <vt:lpstr>          Synopsis Presentation on  Plant Disease Prediction Using Symptoms Analysis  </vt:lpstr>
      <vt:lpstr>Contents</vt:lpstr>
      <vt:lpstr>1. Introduction</vt:lpstr>
      <vt:lpstr>2. Literature Review</vt:lpstr>
      <vt:lpstr>3. Problem Statement</vt:lpstr>
      <vt:lpstr>4. Proposed Solution</vt:lpstr>
      <vt:lpstr>5. Objectives</vt:lpstr>
      <vt:lpstr>6. Theoretical Analysis</vt:lpstr>
      <vt:lpstr>6. Theoretical Analysis</vt:lpstr>
      <vt:lpstr>Applications</vt:lpstr>
      <vt:lpstr>GitHub Link</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Synopsis Presentation on  Plant D PREDICTION USING SYMPTOMS ANALYSIS</dc:title>
  <dc:creator>Deepak Singh Chouhan</dc:creator>
  <cp:lastModifiedBy>hp</cp:lastModifiedBy>
  <cp:revision>20</cp:revision>
  <dcterms:created xsi:type="dcterms:W3CDTF">2024-09-26T07:25:32Z</dcterms:created>
  <dcterms:modified xsi:type="dcterms:W3CDTF">2026-06-01T20:17:05Z</dcterms:modified>
</cp:coreProperties>
</file>